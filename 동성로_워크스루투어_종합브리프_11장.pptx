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059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45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DAX PROJECT 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11535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ko-KR" altLang="en-US" sz="42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동성로</a:t>
            </a:r>
            <a:r>
              <a:rPr lang="ko-KR" alt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42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워크스루</a:t>
            </a:r>
            <a:r>
              <a:rPr lang="ko-KR" alt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투어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40079" y="3045210"/>
            <a:ext cx="5219807" cy="0"/>
          </a:xfrm>
          <a:prstGeom prst="line">
            <a:avLst/>
          </a:prstGeom>
          <a:noFill/>
          <a:ln w="31750">
            <a:solidFill>
              <a:srgbClr val="E800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4663440"/>
            <a:ext cx="32461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73659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532180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중구 소매업 비중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(대구 평균보다 13.5%p↑)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4663440"/>
            <a:ext cx="32461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473659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206240" y="532180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동성로중심 중대형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상가 공실률(2026 Q2)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4663440"/>
            <a:ext cx="32461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473659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772400" y="532180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전국 뮤지컬 관람률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(2021년 2.4%→2.4배)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작성 2026-10-30 · 대구중구 베이커리 조사 · 대구 상가공실 현황과 활용방안 · 대구 뮤지컬 데이터 — 팀 3개 자료 통합</a:t>
            </a:r>
            <a:endParaRPr lang="en-US" sz="75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1837325E-DDD6-4749-A206-F99965E6DF49}"/>
              </a:ext>
            </a:extLst>
          </p:cNvPr>
          <p:cNvSpPr/>
          <p:nvPr/>
        </p:nvSpPr>
        <p:spPr>
          <a:xfrm>
            <a:off x="640079" y="3223260"/>
            <a:ext cx="60955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뮤지컬 </a:t>
            </a:r>
            <a:r>
              <a:rPr lang="en-US" altLang="ko-KR" dirty="0"/>
              <a:t>X </a:t>
            </a:r>
            <a:r>
              <a:rPr lang="ko-KR" altLang="en-US" dirty="0"/>
              <a:t>베이커리로 되살리는 </a:t>
            </a:r>
            <a:r>
              <a:rPr lang="ko-KR" altLang="en-US" dirty="0" err="1"/>
              <a:t>동성로</a:t>
            </a:r>
            <a:r>
              <a:rPr lang="ko-KR" altLang="en-US" dirty="0"/>
              <a:t> 공실 </a:t>
            </a:r>
            <a:r>
              <a:rPr lang="en-US" altLang="ko-KR" dirty="0"/>
              <a:t>– </a:t>
            </a:r>
            <a:r>
              <a:rPr lang="ko-KR" altLang="en-US" dirty="0"/>
              <a:t>진행상황 보고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베이커리 · 상권 배경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중구는 대구에서 가장 촘촘한 상권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31085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인구는 4.1%지만 대구 점포의 12.8%가 몰려 있음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10028"/>
            <a:ext cx="2522144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83180"/>
            <a:ext cx="2522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13,976명/㎢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3168396"/>
            <a:ext cx="252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중구 인구밀도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(대구 1위, 대구 평균 1,601명)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36544" y="2510028"/>
            <a:ext cx="2522144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6544" y="2583180"/>
            <a:ext cx="2522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153.6곳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36544" y="3168396"/>
            <a:ext cx="252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1,000명당 점포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(대구 평균 49.3곳의 3.1배)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33008" y="2510028"/>
            <a:ext cx="2522144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3008" y="2583180"/>
            <a:ext cx="2522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2,146곳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33008" y="3168396"/>
            <a:ext cx="252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1㎢당 점포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(대구 평균 78.9곳의 27배)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29471" y="2510028"/>
            <a:ext cx="2522144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29471" y="2583180"/>
            <a:ext cx="2522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39.3%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029471" y="3168396"/>
            <a:ext cx="252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소매업 비중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(대구 평균 25.8%보다 13.5%p 높음)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1091153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상위 업종이 여성 겉옷·셔츠·블라우스 등 의류 소매로, 한식·미용 중심인 다른 구군과 구조가 다름</a:t>
            </a:r>
            <a:endParaRPr lang="en-US" sz="1250" dirty="0"/>
          </a:p>
          <a:p>
            <a:pPr marL="0" indent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카페 1곳당 인구 122명(대구 평균 435명), 빵·도넛은 519명 — 카페 경쟁이 가장 치열함</a:t>
            </a:r>
            <a:endParaRPr lang="en-US" sz="1250" dirty="0"/>
          </a:p>
          <a:p>
            <a:pPr marL="0" indent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주의: 주민등록 인구 기준이라 낮 방문객이 많은 중구는 밀도가 실제보다 크게 보일 수 있음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309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소상공인시장진흥공단 상가(상권)정보(2026.06, 118,345곳) · 대구광역시 기본통계(2024.12.31 주민등록인구)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베이커리 · 관광 연결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공실과 관광 수요: 대구엔 빵 앵커가 없다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동성로 공실 26.3%, 관광객 쇼핑은 「살거리」 부족이 과제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23159"/>
            <a:ext cx="2522144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96311"/>
            <a:ext cx="2522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3081527"/>
            <a:ext cx="252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동성로 중대형 상가 공실률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(대구 평균 18.3%, 2026년 1분기)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36544" y="2423159"/>
            <a:ext cx="2522144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6544" y="2496311"/>
            <a:ext cx="2522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16만 명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36544" y="3081527"/>
            <a:ext cx="252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DIMF 관객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(18일간, 보도 기준)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33008" y="2423159"/>
            <a:ext cx="2522144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3008" y="2496311"/>
            <a:ext cx="2522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33008" y="3081527"/>
            <a:ext cx="252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관광객 「빵 등 제과류」 쇼핑 비중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(곱창·막창 추천은 11.5%로 급감)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29471" y="2423159"/>
            <a:ext cx="2522144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29471" y="2496311"/>
            <a:ext cx="2522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80.1%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029471" y="3081527"/>
            <a:ext cx="252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당일치기 여행 비중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(평균 체류 1.2일)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1091153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동성로 중심 도로는 북적이지만 골목 안쪽은 공실이 심각; 2028년까지 60억 원 투입 계획</a:t>
            </a:r>
            <a:endParaRPr lang="en-US" sz="125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상인회는 대기업 프랜차이즈 대신 동성로 로컬 브랜드 육성을 요구 — 우리 기획과 맞물림</a:t>
            </a:r>
            <a:endParaRPr lang="en-US" sz="125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대구에는 성심당 같은 빵 앵커나 대표 빵 축제가 없어, 뮤지컬과 엮어 만들 빈자리가 있음</a:t>
            </a:r>
            <a:endParaRPr lang="en-US" sz="125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정책 방향 일치: 도심 15분 생활관광권, 걷는 투어, 야간·숙박 결합 1박 패키지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309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뉴시스(2026.6) 동성로 보도 · 뉴데일리(2026.7) DIMF 보도 · 「관광데이터 기반 대구관광 정책 방향 연구」(2025) p.71-76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상가공실 · 문제 규모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중대형·소규모·집합 모두 전국과 서울보다 높다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상가 유형별 공실률 (%, 2026Q2)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85088" y="3035579"/>
            <a:ext cx="384048" cy="1536421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0" name="Text 8"/>
          <p:cNvSpPr/>
          <p:nvPr/>
        </p:nvSpPr>
        <p:spPr>
          <a:xfrm>
            <a:off x="1011936" y="2797835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60576" y="3529813"/>
            <a:ext cx="384048" cy="1042187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" name="Text 10"/>
          <p:cNvSpPr/>
          <p:nvPr/>
        </p:nvSpPr>
        <p:spPr>
          <a:xfrm>
            <a:off x="1487424" y="3292069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9.7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36064" y="2541346"/>
            <a:ext cx="384048" cy="2030654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4" name="Text 12"/>
          <p:cNvSpPr/>
          <p:nvPr/>
        </p:nvSpPr>
        <p:spPr>
          <a:xfrm>
            <a:off x="1962912" y="2303602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18.9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4645152"/>
            <a:ext cx="222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중대형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0128" y="3658743"/>
            <a:ext cx="384048" cy="913257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7" name="Text 15"/>
          <p:cNvSpPr/>
          <p:nvPr/>
        </p:nvSpPr>
        <p:spPr>
          <a:xfrm>
            <a:off x="3236976" y="3420999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85616" y="3884371"/>
            <a:ext cx="384048" cy="687629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9" name="Text 17"/>
          <p:cNvSpPr/>
          <p:nvPr/>
        </p:nvSpPr>
        <p:spPr>
          <a:xfrm>
            <a:off x="3712464" y="3646627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61104" y="3411626"/>
            <a:ext cx="384048" cy="1160374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21" name="Text 19"/>
          <p:cNvSpPr/>
          <p:nvPr/>
        </p:nvSpPr>
        <p:spPr>
          <a:xfrm>
            <a:off x="4187952" y="3173882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865120" y="4645152"/>
            <a:ext cx="222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소규모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35168" y="3443859"/>
            <a:ext cx="384048" cy="1128141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4" name="Text 22"/>
          <p:cNvSpPr/>
          <p:nvPr/>
        </p:nvSpPr>
        <p:spPr>
          <a:xfrm>
            <a:off x="5462016" y="3206115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10656" y="3572789"/>
            <a:ext cx="384048" cy="999211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6" name="Text 24"/>
          <p:cNvSpPr/>
          <p:nvPr/>
        </p:nvSpPr>
        <p:spPr>
          <a:xfrm>
            <a:off x="5937504" y="3335045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86144" y="3282696"/>
            <a:ext cx="384048" cy="1289304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28" name="Text 26"/>
          <p:cNvSpPr/>
          <p:nvPr/>
        </p:nvSpPr>
        <p:spPr>
          <a:xfrm>
            <a:off x="6412992" y="3044952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90160" y="4645152"/>
            <a:ext cx="222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572000"/>
            <a:ext cx="66751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6873A4EF-0C36-413B-842C-D9CA3095E436}"/>
              </a:ext>
            </a:extLst>
          </p:cNvPr>
          <p:cNvGrpSpPr/>
          <p:nvPr/>
        </p:nvGrpSpPr>
        <p:grpSpPr>
          <a:xfrm>
            <a:off x="2396405" y="5181906"/>
            <a:ext cx="3465237" cy="274320"/>
            <a:chOff x="2630763" y="5025746"/>
            <a:chExt cx="3465237" cy="274320"/>
          </a:xfrm>
        </p:grpSpPr>
        <p:sp>
          <p:nvSpPr>
            <p:cNvPr id="31" name="Shape 29"/>
            <p:cNvSpPr/>
            <p:nvPr/>
          </p:nvSpPr>
          <p:spPr>
            <a:xfrm>
              <a:off x="2630763" y="5063465"/>
              <a:ext cx="164592" cy="164592"/>
            </a:xfrm>
            <a:prstGeom prst="rect">
              <a:avLst/>
            </a:prstGeom>
            <a:solidFill>
              <a:srgbClr val="EDEDED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2804160" y="5025746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4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전국</a:t>
              </a:r>
              <a:endParaRPr lang="en-US" sz="9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819483" y="5063465"/>
              <a:ext cx="164592" cy="164592"/>
            </a:xfrm>
            <a:prstGeom prst="rect">
              <a:avLst/>
            </a:prstGeom>
            <a:solidFill>
              <a:srgbClr val="BFBFBF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3992880" y="5025746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4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서울</a:t>
              </a:r>
              <a:endParaRPr lang="en-US" sz="9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5008203" y="5063465"/>
              <a:ext cx="164592" cy="164592"/>
            </a:xfrm>
            <a:prstGeom prst="rect">
              <a:avLst/>
            </a:prstGeom>
            <a:solidFill>
              <a:srgbClr val="E8000D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5181600" y="5025746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4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대구</a:t>
              </a:r>
              <a:endParaRPr lang="en-US" sz="950" dirty="0"/>
            </a:p>
          </p:txBody>
        </p:sp>
      </p:grpSp>
      <p:sp>
        <p:nvSpPr>
          <p:cNvPr id="37" name="Shape 35"/>
          <p:cNvSpPr/>
          <p:nvPr/>
        </p:nvSpPr>
        <p:spPr>
          <a:xfrm>
            <a:off x="7680960" y="1920240"/>
            <a:ext cx="3870655" cy="3063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2103120"/>
            <a:ext cx="3413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소규모 상가 공실률 추이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09560" y="2514600"/>
            <a:ext cx="34134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  →  10.8%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909560" y="3108960"/>
            <a:ext cx="3413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2019년 → 2026년(3.6배)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909560" y="3566160"/>
            <a:ext cx="34134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소상공인 점포가 직접 타격을 받고 있다 — 꾸준히 우상향하며 전국·서울 상승폭을 웃돈다.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" y="6309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한국부동산원 R-ONE (집합상가 공실률은 2022Q4부터 제공)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상가공실 · 문제 규모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상권별로는 서문시장·동성로중심·계명대가 20%를 넘는다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서문시장/청라언덕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1911096"/>
            <a:ext cx="4727905" cy="201168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0" name="Text 8"/>
          <p:cNvSpPr/>
          <p:nvPr/>
        </p:nvSpPr>
        <p:spPr>
          <a:xfrm>
            <a:off x="7087057" y="1874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38.3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동성로중심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2185416"/>
            <a:ext cx="3184855" cy="201168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3" name="Text 11"/>
          <p:cNvSpPr/>
          <p:nvPr/>
        </p:nvSpPr>
        <p:spPr>
          <a:xfrm>
            <a:off x="5544007" y="2148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계명대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0" y="2459736"/>
            <a:ext cx="2876245" cy="201168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6" name="Text 14"/>
          <p:cNvSpPr/>
          <p:nvPr/>
        </p:nvSpPr>
        <p:spPr>
          <a:xfrm>
            <a:off x="5235397" y="2423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상인/월배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2734056"/>
            <a:ext cx="2802179" cy="201168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9" name="Text 17"/>
          <p:cNvSpPr/>
          <p:nvPr/>
        </p:nvSpPr>
        <p:spPr>
          <a:xfrm>
            <a:off x="5161331" y="2697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22.7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시지지구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0" y="3008376"/>
            <a:ext cx="2555291" cy="201168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22" name="Text 20"/>
          <p:cNvSpPr/>
          <p:nvPr/>
        </p:nvSpPr>
        <p:spPr>
          <a:xfrm>
            <a:off x="4914443" y="2971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죽전역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0" y="3282696"/>
            <a:ext cx="2468880" cy="201168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32461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경북대북문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0" y="3557016"/>
            <a:ext cx="2382469" cy="2011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Text 26"/>
          <p:cNvSpPr/>
          <p:nvPr/>
        </p:nvSpPr>
        <p:spPr>
          <a:xfrm>
            <a:off x="4741621" y="3520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월촌/안지랑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0" y="3831336"/>
            <a:ext cx="2271370" cy="2011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1" name="Text 29"/>
          <p:cNvSpPr/>
          <p:nvPr/>
        </p:nvSpPr>
        <p:spPr>
          <a:xfrm>
            <a:off x="4630522" y="3794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두류감삼역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0" y="4105656"/>
            <a:ext cx="2259025" cy="2011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4" name="Text 32"/>
          <p:cNvSpPr/>
          <p:nvPr/>
        </p:nvSpPr>
        <p:spPr>
          <a:xfrm>
            <a:off x="4618177" y="4069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동대구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0" y="4379976"/>
            <a:ext cx="2123237" cy="2011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7" name="Text 35"/>
          <p:cNvSpPr/>
          <p:nvPr/>
        </p:nvSpPr>
        <p:spPr>
          <a:xfrm>
            <a:off x="4482389" y="4343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삼덕/대봉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0" y="4654296"/>
            <a:ext cx="1765249" cy="2011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0" name="Text 38"/>
          <p:cNvSpPr/>
          <p:nvPr/>
        </p:nvSpPr>
        <p:spPr>
          <a:xfrm>
            <a:off x="4124401" y="4617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4892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칠곡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0" y="4928616"/>
            <a:ext cx="1752905" cy="2011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4112057" y="4892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" y="5166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수성범어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0" y="5202936"/>
            <a:ext cx="1703527" cy="2011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6" name="Text 44"/>
          <p:cNvSpPr/>
          <p:nvPr/>
        </p:nvSpPr>
        <p:spPr>
          <a:xfrm>
            <a:off x="4062679" y="5166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" y="5440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들안길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86000" y="5477256"/>
            <a:ext cx="641909" cy="2011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Text 47"/>
          <p:cNvSpPr/>
          <p:nvPr/>
        </p:nvSpPr>
        <p:spPr>
          <a:xfrm>
            <a:off x="3001061" y="5440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" y="5715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동호지구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286000" y="5751576"/>
            <a:ext cx="518465" cy="2011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Text 50"/>
          <p:cNvSpPr/>
          <p:nvPr/>
        </p:nvSpPr>
        <p:spPr>
          <a:xfrm>
            <a:off x="2877617" y="5715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286000" y="1801368"/>
            <a:ext cx="0" cy="420624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21040" y="1874520"/>
            <a:ext cx="3230575" cy="2299547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03920" y="2304966"/>
            <a:ext cx="2864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빨간 막대 = 20% 이상</a:t>
            </a:r>
            <a:endParaRPr lang="en-US" sz="1100" dirty="0">
              <a:solidFill>
                <a:srgbClr val="FF0000"/>
              </a:solidFill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(6개 상권)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503920" y="2788920"/>
            <a:ext cx="3112347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동성로중심(25.8%) 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5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대구에서</a:t>
            </a: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두 번째로 </a:t>
            </a:r>
            <a:r>
              <a:rPr lang="en-US" sz="105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공실이</a:t>
            </a: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심한</a:t>
            </a: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상권 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40080" y="6309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한국부동산원 R-ONE (붉은색: 20% 이상). 죽전·동성로 등 구분이 바뀐 상권은 제외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상가공실 · 왜 문제인가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공실은 한 점포의 문제가 아니라 상권 전체의 악순환이다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318608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121408"/>
            <a:ext cx="365760" cy="365760"/>
          </a:xfrm>
          <a:prstGeom prst="ellipse">
            <a:avLst/>
          </a:prstGeom>
          <a:solidFill>
            <a:srgbClr val="E8000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139696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상권 악순환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2633472"/>
            <a:ext cx="486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공실이 늘면 집객력이 떨어지고 인접 점포 매출도 줄어 추가 폐업으로 이어짐. 동성로는 중심가가 채워져도 골목은 「임대」 안내문만 이어짐.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3008" y="1920240"/>
            <a:ext cx="5318608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1608" y="2121408"/>
            <a:ext cx="365760" cy="365760"/>
          </a:xfrm>
          <a:prstGeom prst="ellipse">
            <a:avLst/>
          </a:prstGeom>
          <a:solidFill>
            <a:srgbClr val="E8000D"/>
          </a:solidFill>
          <a:ln/>
        </p:spPr>
      </p:sp>
      <p:sp>
        <p:nvSpPr>
          <p:cNvPr id="15" name="Text 13"/>
          <p:cNvSpPr/>
          <p:nvPr/>
        </p:nvSpPr>
        <p:spPr>
          <a:xfrm>
            <a:off x="646160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64528" y="2139696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이미지 악화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61608" y="2633472"/>
            <a:ext cx="486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점포가 길게 이어지면 거리가 쇠락해 보여 방문객이 줄어듦. 미국 팜스프링스는 이를 막으려 공실 외벽 전시를 시행.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5318608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133088"/>
            <a:ext cx="365760" cy="365760"/>
          </a:xfrm>
          <a:prstGeom prst="ellipse">
            <a:avLst/>
          </a:prstGeom>
          <a:solidFill>
            <a:srgbClr val="E8000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33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151376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구도심 공동화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68680" y="4645152"/>
            <a:ext cx="486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대구·경북 쇠퇴지역 분석에서 「쇠퇴 매우 심함」 14곳 중 대구가 중·서·남구 3곳(37.5%). 노후 상가 재활용이 대안으로 제시됨.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33008" y="3931920"/>
            <a:ext cx="5318608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61608" y="4133088"/>
            <a:ext cx="365760" cy="365760"/>
          </a:xfrm>
          <a:prstGeom prst="ellipse">
            <a:avLst/>
          </a:prstGeom>
          <a:solidFill>
            <a:srgbClr val="E8000D"/>
          </a:solidFill>
          <a:ln/>
        </p:spPr>
      </p:sp>
      <p:sp>
        <p:nvSpPr>
          <p:cNvPr id="25" name="Text 23"/>
          <p:cNvSpPr/>
          <p:nvPr/>
        </p:nvSpPr>
        <p:spPr>
          <a:xfrm>
            <a:off x="6461608" y="4133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64528" y="4151376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수요 감소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61608" y="4645152"/>
            <a:ext cx="486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사례: 상업공간 재고는 20년간 약 60% 늘었지만 오프라인 소매 비중은 94.8%(2005)→78.6%(2019). 공급 과잉이 공실을 키움.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6309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매일신문·경북매일(2026) · 서울연구원(2021·2009) · 경북연구원 「대구·경북의 쇠퇴지역 재활성화 전략」(2016)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뮤지컬 · 수요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뮤지컬 수요는 4년 만에 2.4배 늘었다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뮤지컬 관람률 추이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82980" y="3882281"/>
            <a:ext cx="685800" cy="689719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" y="3589673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5820" y="46268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3163824"/>
            <a:ext cx="685800" cy="1408176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3" name="Text 11"/>
          <p:cNvSpPr/>
          <p:nvPr/>
        </p:nvSpPr>
        <p:spPr>
          <a:xfrm>
            <a:off x="1874520" y="287121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4.9%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74520" y="46268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40380" y="2991394"/>
            <a:ext cx="685800" cy="1580606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2903220" y="269878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5.5%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03220" y="46268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69080" y="2732750"/>
            <a:ext cx="685800" cy="183925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244014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6.4%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31920" y="46268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97780" y="2905179"/>
            <a:ext cx="685800" cy="1666821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22" name="Text 20"/>
          <p:cNvSpPr/>
          <p:nvPr/>
        </p:nvSpPr>
        <p:spPr>
          <a:xfrm>
            <a:off x="4960620" y="2612571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60620" y="46268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54864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문화체육관광부 「국민문화예술활동조사」 보도자료(2023·2024·2025)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92240" y="2057400"/>
            <a:ext cx="5059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광역시 뮤지컬 시장 — 대구 vs 부산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651760"/>
          <a:ext cx="5059376" cy="2057400"/>
        </p:xfrm>
        <a:graphic>
          <a:graphicData uri="http://schemas.openxmlformats.org/drawingml/2006/table">
            <a:tbl>
              <a:tblPr/>
              <a:tblGrid>
                <a:gridCol w="2124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대구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부산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공연 건수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213건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000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199건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티켓 판매액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127억원 (-32.4%)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000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304억원 (+60.6%)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티켓 예매수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280,657매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000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369,357매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건당 판매액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약 5.9억원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000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약 15.3억원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6492240" y="4800600"/>
            <a:ext cx="50593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 건수는 대구가 더 많지만, 건당 흥행 규모는 부산이 약 2.6배 — "수요 부재"가 아니라 "대형 흥행작/상설 공간의 부재"에 가까운 격차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0080" y="6309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예술경영지원센터 「2025년 공연시장 티켓판매 현황 분석 보고서」 표-24·25 · 문체부 「국민문화예술활동조사」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뮤지컬 · DIMF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DIMF, 20년간 쌓은 콘텐츠 자산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3454298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54864" cy="141732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9456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20주년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30885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제20회 · 2007년 이후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창작지원 신작 87편 발굴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8698" y="2057400"/>
            <a:ext cx="3454298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8698" y="2057400"/>
            <a:ext cx="54864" cy="141732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4" name="Text 12"/>
          <p:cNvSpPr/>
          <p:nvPr/>
        </p:nvSpPr>
        <p:spPr>
          <a:xfrm>
            <a:off x="4597298" y="219456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3.8만명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97298" y="2743200"/>
            <a:ext cx="30885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제20회(2026) 유료 관람객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객석점유율 63.8%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7317" y="2057400"/>
            <a:ext cx="3454298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7317" y="2057400"/>
            <a:ext cx="54864" cy="141732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8" name="Text 16"/>
          <p:cNvSpPr/>
          <p:nvPr/>
        </p:nvSpPr>
        <p:spPr>
          <a:xfrm>
            <a:off x="8325917" y="219456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4천만~1억원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25917" y="2743200"/>
            <a:ext cx="30885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창작지원작 1편당 지원금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(대형 라이선스 뮤지컬과 차원이 다른 규모)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2개 회차 — 유료 관람객 추이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제19회 (2025)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3.4만명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0080" y="5001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객석점유율 64.31% · 전체 52,664석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제20회 (2026)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3.8만명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657600" y="5001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객석점유율 63.8%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3840480"/>
            <a:ext cx="5059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진출 레퍼런스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251960"/>
            <a:ext cx="50593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'유앤잇' 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2019년 DIMF 창작뮤지컬상 수상 후 대만·웨스트엔드 거쳐 2024년 에든버러 페스티벌 진출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5303520"/>
            <a:ext cx="50593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창작지원작 → 창작뮤지컬상 → 다음 회차 공식초청작 재공연 — DIMF 자체 육성 파이프라인이 이미 존재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6309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DIMF 공식 홈페이지 · 대구시 「제20회 DIMF 추진계획」 · 매일신문(2026-01-08, 2026-07-23) · 경북일보(2026-01-07)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뮤지컬 · 문화소비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지갑은 줄었지만, 접근성엔 아직 여지가 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60905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 평균 티켓가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072385"/>
            <a:ext cx="34542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7만원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3758185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전체 장르 평균 · 매(장)당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전년 대비 약 5천원 상승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68698" y="2660905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여가 지출 월평균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68698" y="3072385"/>
            <a:ext cx="34542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18.7만원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68698" y="3758185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기준 · 2023년 20.1만원에서 1.4만원 감소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(온라인 여가 증가 + 물가 상승 영향)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7317" y="2660905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에든버러 프린지 평균가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97317" y="3072385"/>
            <a:ext cx="34542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£13대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097317" y="3758185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· "저가 + 다작 관람" 구조로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축제 접근성을 유지(Fringe Society)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309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문체부·예술경영지원센터 「2025년 공연시장 티켓판매 현황 분석」 · 문체부·한국문화관광연구원 「국민여가활동조사」(2024) · 「국민문화예술활동조사」(2022) · Edinburgh Festival Fringe Society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상가공실 · 해법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우수사례마다 대구에서 쓸 수 있는 적용안이 있다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58643"/>
              </p:ext>
            </p:extLst>
          </p:nvPr>
        </p:nvGraphicFramePr>
        <p:xfrm>
          <a:off x="640080" y="1765470"/>
          <a:ext cx="10911534" cy="4352543"/>
        </p:xfrm>
        <a:graphic>
          <a:graphicData uri="http://schemas.openxmlformats.org/drawingml/2006/table">
            <a:tbl>
              <a:tblPr/>
              <a:tblGrid>
                <a:gridCol w="196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4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해외 핵심 성과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대구 적용안 · 근거 / 대상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21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파리·로테르담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(공공매입·협동조합)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파리: 8,700만유로 투입, 344개 점포 재개점(2011)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로테르담: 4년 1,200만유로로 상업지역 20~30% 확보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도시재생지원센터가 빈점포·상가 신탁받아 저가 임대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근거: 도시재생 활성화 및 지원 조례 제8조4호 · 대상: 서문시장·청라언덕(38.3%)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74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바버턴·팜스프링스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(단기 팝업·외벽전시)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바버턴: 1주 팝업으로 여성보행자 42.1%→53.3%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팜스프링스: 외벽 예술전시로 부정적 인상 완화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빈점포 팝업스토어 확대, 공실 외벽전시, 골목 팝업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근거: 동성로 상권활성화사업(2025 팝업 시행) · 대상: 동성로중심(25.8%)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74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아이치·성수동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(청년창업·챌린지숍)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아이치: 챌린지숍으로 차세대 상인 육성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성수동: 컨테이너 창업공간 116개, 매출 216%↑, 유지율 97%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청년 창업 시험점포 전환 + 창업 컨설팅 결합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근거: 청년창업 지원조례 제5조 · 대상: 계명대(23.3%)·경북대북문(19.3%)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794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미야마초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(주민출자)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주민 106명 출자·운영, 연 이용자 21,500명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상인·주민 공동체가 출자·운영하는 골목 점포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근거: 골목상권 공동체조례(상인 30명 이상)·마을관리협동조합 · 대상: 월배·안지랑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843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파리·런던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(젠트리피케이션 대응)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공실 해소 이후 임대료 급등을 막기 위한 후속 대응 사례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공실 해소 후 임대료 급등 방지 상생협약, 임대차 분쟁 조정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근거: 지역상권 상생조례 제4조 · 소상공인조례 제6조6호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309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서울연구원 세계도시동향·연구보고서 · 경북연구원 일본 지방창생 사례 연구 · 대구 적용 가능한 법과 계획(국가법령정보센터, 2026-10-29) · 한국부동산원 R-ONE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상가공실 · 결론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공실은 데이터로 드러났고, 해법은 이미 검증되어 있다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318608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6596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대구는 — 현재 모습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49528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중심가: 뽑기방·게임장·무인매장이 공실을 채움</a:t>
            </a:r>
            <a:endParaRPr lang="en-US" sz="950" dirty="0"/>
          </a:p>
          <a:p>
            <a:pPr marL="0" indent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골목: 의류점·음식점 폐업 후 「임대」 안내문만 남음</a:t>
            </a:r>
            <a:endParaRPr lang="en-US" sz="950" dirty="0"/>
          </a:p>
          <a:p>
            <a:pPr marL="0" indent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대구 신규 일반사업자 20,708명(2025), 2013년 이후 최저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33008" y="1828800"/>
            <a:ext cx="5318608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5888" y="196596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운영상의 한계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15888" y="2286000"/>
            <a:ext cx="49528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공실 점포 수·활용 실적 통합 DB 없음(점포 수 미공개)</a:t>
            </a:r>
            <a:endParaRPr lang="en-US" sz="950" dirty="0"/>
          </a:p>
          <a:p>
            <a:pPr marL="0" indent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팝업은 1~2개월 단기, 상시 입주로 이어지는 구조 불분명</a:t>
            </a:r>
            <a:endParaRPr lang="en-US" sz="950" dirty="0"/>
          </a:p>
          <a:p>
            <a:pPr marL="0" indent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도시재생 거점시설은 공공 운영비 보조 의존 — 지원 종료 후 자립 어려움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— 4단계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2522144" cy="1508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78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215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818888"/>
            <a:ext cx="21563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대구 중대형 공실률 18.9%, 소규모 10.8%. 전국·서울을 모두 웃돌고 계속 상승 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36544" y="4069080"/>
            <a:ext cx="2522144" cy="1508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3619424" y="4178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19424" y="4526280"/>
            <a:ext cx="215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19424" y="4818888"/>
            <a:ext cx="21563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개업은 줄고 폐업은 유지(91%).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방치하면</a:t>
            </a: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골목 상권부터 무너지는 악순환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33008" y="4069080"/>
            <a:ext cx="2522144" cy="1508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Text 22"/>
          <p:cNvSpPr/>
          <p:nvPr/>
        </p:nvSpPr>
        <p:spPr>
          <a:xfrm>
            <a:off x="6415888" y="4178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15888" y="4526280"/>
            <a:ext cx="215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15888" y="4818888"/>
            <a:ext cx="21563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파리·로테르담의 공공 매입, 바버턴의 팝업, 아이치의 챌린지숍, 미야마초의 주민 출자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29471" y="4069080"/>
            <a:ext cx="2522144" cy="1508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Text 26"/>
          <p:cNvSpPr/>
          <p:nvPr/>
        </p:nvSpPr>
        <p:spPr>
          <a:xfrm>
            <a:off x="9212351" y="4178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12351" y="4526280"/>
            <a:ext cx="215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12351" y="4818888"/>
            <a:ext cx="21563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조례 근거는 이미 있음. 공실 DB와 상시 운영 체계로 연결해야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309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경북매일(2026.7.29)·매일신문(2026.7.13)·경북연구원(2022) · 2024Q3 통계 개편 구간, 상권 구분 변경 등 데이터 한계는 각 슬라이드 주석 참고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1639</Words>
  <Application>Microsoft Office PowerPoint</Application>
  <PresentationFormat>와이드스크린</PresentationFormat>
  <Paragraphs>275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Green</cp:lastModifiedBy>
  <cp:revision>2</cp:revision>
  <dcterms:created xsi:type="dcterms:W3CDTF">2026-10-30T00:34:54Z</dcterms:created>
  <dcterms:modified xsi:type="dcterms:W3CDTF">2026-10-30T00:52:49Z</dcterms:modified>
</cp:coreProperties>
</file>