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동성로 워크스루 투어 · 데이터 브리프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11535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대구 뮤지컬, 숫자로
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공실을 채울 수 있을까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3840480" cy="0"/>
          </a:xfrm>
          <a:prstGeom prst="line">
            <a:avLst/>
          </a:prstGeom>
          <a:noFill/>
          <a:ln w="31750">
            <a:solidFill>
              <a:srgbClr val="E800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0690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뮤지컬 수요 · DIMF 현황 · 문화소비 데이터로 보는 기획 타당성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32461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96519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55778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전국 뮤지컬 관람률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(2021년 2.4%→2.4배)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4892040"/>
            <a:ext cx="32461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496519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20주년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206240" y="55778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DIMF, 유료관람객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3.8만명(20회)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0" y="4892040"/>
            <a:ext cx="32461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496519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25.8%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772400" y="55778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동성로중심 중대형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상가 공실률(2026 Q2)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6291072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작성 2026-10-29 · 문화체육관광부·예술경영지원센터·DIMF(대구시)·대구문화재단 공식자료 기준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뮤지컬 수요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뮤지컬 수요는 4년 만에 2.4배 늘었다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911535" cy="0"/>
          </a:xfrm>
          <a:prstGeom prst="line">
            <a:avLst/>
          </a:prstGeom>
          <a:noFill/>
          <a:ln w="1587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3015" y="5989320"/>
            <a:ext cx="457200" cy="457200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뮤지컬 관람률 추이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82980" y="3882281"/>
            <a:ext cx="685800" cy="689719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0" name="Text 8"/>
          <p:cNvSpPr/>
          <p:nvPr/>
        </p:nvSpPr>
        <p:spPr>
          <a:xfrm>
            <a:off x="845820" y="3589673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5820" y="46268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3163824"/>
            <a:ext cx="685800" cy="1408176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3" name="Text 11"/>
          <p:cNvSpPr/>
          <p:nvPr/>
        </p:nvSpPr>
        <p:spPr>
          <a:xfrm>
            <a:off x="1874520" y="287121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4.9%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74520" y="46268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40380" y="2991394"/>
            <a:ext cx="685800" cy="1580606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2903220" y="269878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5.5%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03220" y="46268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69080" y="2732750"/>
            <a:ext cx="685800" cy="183925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244014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6.4%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31920" y="46268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97780" y="2905179"/>
            <a:ext cx="685800" cy="1666821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22" name="Text 20"/>
          <p:cNvSpPr/>
          <p:nvPr/>
        </p:nvSpPr>
        <p:spPr>
          <a:xfrm>
            <a:off x="4960620" y="2612571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5.8%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60620" y="46268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54864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문화체육관광부 「국민문화예술활동조사」 보도자료(2023·2024·2025)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92240" y="2057400"/>
            <a:ext cx="5059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광역시 뮤지컬 시장 — 대구 vs 부산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651760"/>
          <a:ext cx="5059375" cy="914400"/>
        </p:xfrm>
        <a:graphic>
          <a:graphicData uri="http://schemas.openxmlformats.org/drawingml/2006/table">
            <a:tbl>
              <a:tblPr/>
              <a:tblGrid>
                <a:gridCol w="2124938"/>
                <a:gridCol w="1467219"/>
                <a:gridCol w="1467219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4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대구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4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부산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공연 건수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213건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000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199건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티켓 판매액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127억원 (-32.4%)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000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304억원 (+60.6%)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티켓 예매수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280,657매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000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369,357매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건당 판매액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약 5.9억원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000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약 15.3억원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6492240" y="4800600"/>
            <a:ext cx="50593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 건수는 대구가 더 많지만, 건당 흥행 규모는 부산이 약 2.6배 — "수요 부재"가 아니라 "대형 흥행작/상설 공간의 부재"에 가까운 격차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40080" y="6291072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예술경영지원센터 「2025년 공연시장 티켓판매 현황 분석 보고서」 표-24·25 · 문체부 「국민문화예술활동조사」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DIMF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DIMF, 20년간 쌓은 콘텐츠 자산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911535" cy="0"/>
          </a:xfrm>
          <a:prstGeom prst="line">
            <a:avLst/>
          </a:prstGeom>
          <a:noFill/>
          <a:ln w="1587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3015" y="5989320"/>
            <a:ext cx="457200" cy="457200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3454298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54864" cy="141732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9456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20주년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30885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제20회 · 2007년 이후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창작지원 신작 87편 발굴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68698" y="2057400"/>
            <a:ext cx="3454298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8698" y="2057400"/>
            <a:ext cx="54864" cy="141732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14" name="Text 12"/>
          <p:cNvSpPr/>
          <p:nvPr/>
        </p:nvSpPr>
        <p:spPr>
          <a:xfrm>
            <a:off x="4597298" y="219456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3.8만명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97298" y="2743200"/>
            <a:ext cx="30885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제20회(2026) 유료 관람객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객석점유율 63.8%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7317" y="2057400"/>
            <a:ext cx="3454298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7317" y="2057400"/>
            <a:ext cx="54864" cy="141732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18" name="Text 16"/>
          <p:cNvSpPr/>
          <p:nvPr/>
        </p:nvSpPr>
        <p:spPr>
          <a:xfrm>
            <a:off x="8325917" y="2194560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4천만~1억원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25917" y="2743200"/>
            <a:ext cx="30885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창작지원작 1편당 지원금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(대형 라이선스 뮤지컬과 차원이 다른 규모)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2개 회차 — 유료 관람객 추이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제19회 (2025)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526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3.4만명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0080" y="5001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객석점유율 64.31% · 전체 52,664석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제20회 (2026)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4526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3.8만명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657600" y="5001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객석점유율 63.8%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3840480"/>
            <a:ext cx="5059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진출 레퍼런스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251960"/>
            <a:ext cx="505937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'유앤잇'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2019년 DIMF 창작뮤지컬상 수상 후 대만·웨스트엔드 거쳐 2024년 에든버러 페스티벌 진출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5303520"/>
            <a:ext cx="50593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창작지원작 → 창작뮤지컬상 → 다음 회차 공식초청작 재공연 — DIMF 자체 육성 파이프라인이 이미 존재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6291072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DIMF 공식 홈페이지 · 대구시 「제20회 DIMF 추진계획」 · 매일신문(2026-01-08, 2026-07-23) · 경북일보(2026-01-07)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문화소비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지갑은 줄었지만, 접근성엔 아직 여지가 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911535" cy="0"/>
          </a:xfrm>
          <a:prstGeom prst="line">
            <a:avLst/>
          </a:prstGeom>
          <a:noFill/>
          <a:ln w="1587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3015" y="5989320"/>
            <a:ext cx="457200" cy="457200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 평균 티켓가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4542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7만원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전체 장르 평균 · 매(장)당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전년 대비 약 5천원 상승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68698" y="2057400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여가 지출 월평균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68698" y="2468880"/>
            <a:ext cx="34542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18.7만원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368698" y="315468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기준 · 2023년 20.1만원에서 1.4만원 감소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(온라인 여가 증가 + 물가 상승 영향)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7317" y="2057400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에든버러 프린지 평균가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97317" y="2468880"/>
            <a:ext cx="34542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£13대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097317" y="315468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· "저가 + 다작 관람" 구조로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축제 접근성을 유지(Fringe Society)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1091153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소득별 문화예술 관람률 격차 (2022)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846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600만원 이상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51760" y="4910328"/>
            <a:ext cx="5120640" cy="256032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4846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73.6%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303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100만원 미만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51760" y="5367528"/>
            <a:ext cx="1210586" cy="256032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24" name="Text 22"/>
          <p:cNvSpPr/>
          <p:nvPr/>
        </p:nvSpPr>
        <p:spPr>
          <a:xfrm>
            <a:off x="3953786" y="5303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17.4%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6291072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문체부·예술경영지원센터 「2025년 공연시장 티켓판매 현황 분석」 · 문체부·한국문화관광연구원 「국민여가활동조사」(2024) · 「국민문화예술활동조사」(2022) · Edinburgh Festival Fringe Society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연결고리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지금, 동성로 공실인가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911535" cy="0"/>
          </a:xfrm>
          <a:prstGeom prst="line">
            <a:avLst/>
          </a:prstGeom>
          <a:noFill/>
          <a:ln w="1587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3015" y="5989320"/>
            <a:ext cx="457200" cy="457200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동성로중심 중대형 상가 공실률 (2026년 2분기)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동성로중심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94560" y="2615184"/>
            <a:ext cx="4389120" cy="274320"/>
          </a:xfrm>
          <a:prstGeom prst="rect">
            <a:avLst/>
          </a:prstGeom>
          <a:solidFill>
            <a:srgbClr val="E8000D"/>
          </a:solidFill>
          <a:ln/>
        </p:spPr>
      </p:sp>
      <p:sp>
        <p:nvSpPr>
          <p:cNvPr id="11" name="Text 9"/>
          <p:cNvSpPr/>
          <p:nvPr/>
        </p:nvSpPr>
        <p:spPr>
          <a:xfrm>
            <a:off x="6693408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25.8%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0358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대구 전체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94560" y="3090672"/>
            <a:ext cx="3215286" cy="2743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5519574" y="30358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18.9%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5112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평균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94560" y="3566160"/>
            <a:ext cx="2432729" cy="2743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7" name="Text 15"/>
          <p:cNvSpPr/>
          <p:nvPr/>
        </p:nvSpPr>
        <p:spPr>
          <a:xfrm>
            <a:off x="4737017" y="351129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14.3%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0" y="2057400"/>
            <a:ext cx="3962095" cy="2148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2240280"/>
            <a:ext cx="3504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규모가 서로 맞는다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818120" y="2651760"/>
            <a:ext cx="350489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창작지원작 제작비  </a:t>
            </a:r>
            <a:pPr indent="0" marL="0">
              <a:lnSpc>
                <a:spcPts val="2200"/>
              </a:lnSpc>
              <a:buNone/>
            </a:pPr>
            <a:r>
              <a:rPr lang="en-US" sz="1150" b="1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4천만~1억원
</a:t>
            </a:r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공연 평균 티켓가  </a:t>
            </a:r>
            <a:pPr indent="0" marL="0">
              <a:lnSpc>
                <a:spcPts val="2200"/>
              </a:lnSpc>
              <a:buNone/>
            </a:pPr>
            <a:r>
              <a:rPr lang="en-US" sz="1150" b="1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7만원대
</a:t>
            </a:r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프린지 평균 티켓가  </a:t>
            </a:r>
            <a:pPr indent="0" marL="0">
              <a:lnSpc>
                <a:spcPts val="2200"/>
              </a:lnSpc>
              <a:buNone/>
            </a:pPr>
            <a:r>
              <a:rPr lang="en-US" sz="1150" b="1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£13대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10911535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389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00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70916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뮤지컬 수요는 4년간 2.4배 증가했고, ② DIMF는 20년간 쌓은 신작·관객 기반을 이미 갖추고 있으며, ③ 사람들은 저가·근접성이 확보되면 지갑을 연다. 반면 동성로중심 공실률(25.8%)은 대구 평균보다도 7%p 가까이 높다 — 수요·콘텐츠·소비 여력은 있는데 이를 담을 저비용 공간이 비어 있는 상태다. 창작지원작 제작비(4천만~1억원) 규모라면 소규모 공실 공간에서 충분히 운영 가능하다.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291072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대구 뮤지컬 연구팀 자체 종합(01~09번 자료 기준) · 동성로 공실률은 팀 상권 데이터(06번 자료) 인용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2026-10-29T08:39:26Z</dcterms:created>
  <dcterms:modified xsi:type="dcterms:W3CDTF">2026-10-29T08:39:26Z</dcterms:modified>
</cp:coreProperties>
</file>