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동성로중심 (대구)</c:v>
                </c:pt>
              </c:strCache>
            </c:strRef>
          </c:tx>
          <c:spPr>
            <a:solidFill>
              <a:srgbClr val="E8000D"/>
            </a:solidFill>
            <a:ln w="31750" cap="flat">
              <a:solidFill>
                <a:srgbClr val="E8000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000D"/>
              </a:solidFill>
              <a:ln w="9525" cap="flat">
                <a:solidFill>
                  <a:srgbClr val="E8000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'20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'21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'22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'23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'24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'25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'26</c:v>
                  </c:pt>
                  <c:pt idx="25">
                    <c:v/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11.6</c:v>
                </c:pt>
                <c:pt idx="1">
                  <c:v>11.6</c:v>
                </c:pt>
                <c:pt idx="2">
                  <c:v>16.2</c:v>
                </c:pt>
                <c:pt idx="3">
                  <c:v>18.1</c:v>
                </c:pt>
                <c:pt idx="4">
                  <c:v>16.2</c:v>
                </c:pt>
                <c:pt idx="5">
                  <c:v>16.9</c:v>
                </c:pt>
                <c:pt idx="6">
                  <c:v>15.5</c:v>
                </c:pt>
                <c:pt idx="7">
                  <c:v>15.8</c:v>
                </c:pt>
                <c:pt idx="8">
                  <c:v>16</c:v>
                </c:pt>
                <c:pt idx="9">
                  <c:v>14.2</c:v>
                </c:pt>
                <c:pt idx="10">
                  <c:v>14.5</c:v>
                </c:pt>
                <c:pt idx="11">
                  <c:v>15.7</c:v>
                </c:pt>
                <c:pt idx="12">
                  <c:v>19.5</c:v>
                </c:pt>
                <c:pt idx="13">
                  <c:v>20.9</c:v>
                </c:pt>
                <c:pt idx="14">
                  <c:v>21</c:v>
                </c:pt>
                <c:pt idx="15">
                  <c:v>19.4</c:v>
                </c:pt>
                <c:pt idx="16">
                  <c:v>20.1</c:v>
                </c:pt>
                <c:pt idx="17">
                  <c:v>20.8</c:v>
                </c:pt>
                <c:pt idx="18">
                  <c:v>19.8</c:v>
                </c:pt>
                <c:pt idx="19">
                  <c:v>20.8</c:v>
                </c:pt>
                <c:pt idx="20">
                  <c:v>20.8</c:v>
                </c:pt>
                <c:pt idx="21">
                  <c:v>21.8</c:v>
                </c:pt>
                <c:pt idx="22">
                  <c:v>23.3</c:v>
                </c:pt>
                <c:pt idx="23">
                  <c:v>26.9</c:v>
                </c:pt>
                <c:pt idx="24">
                  <c:v>26.3</c:v>
                </c:pt>
                <c:pt idx="25">
                  <c:v>25.8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대구 전체</c:v>
                </c:pt>
              </c:strCache>
            </c:strRef>
          </c:tx>
          <c:spPr>
            <a:solidFill>
              <a:srgbClr val="111111"/>
            </a:solidFill>
            <a:ln w="31750" cap="flat">
              <a:solidFill>
                <a:srgbClr val="1111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'20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'21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'22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'23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'24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'25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'26</c:v>
                  </c:pt>
                  <c:pt idx="25">
                    <c:v/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15.2</c:v>
                </c:pt>
                <c:pt idx="1">
                  <c:v>15.9</c:v>
                </c:pt>
                <c:pt idx="2">
                  <c:v>16.2</c:v>
                </c:pt>
                <c:pt idx="3">
                  <c:v>16.8</c:v>
                </c:pt>
                <c:pt idx="4">
                  <c:v>17.4</c:v>
                </c:pt>
                <c:pt idx="5">
                  <c:v>16.6</c:v>
                </c:pt>
                <c:pt idx="6">
                  <c:v>15</c:v>
                </c:pt>
                <c:pt idx="7">
                  <c:v>14.5</c:v>
                </c:pt>
                <c:pt idx="8">
                  <c:v>14.3</c:v>
                </c:pt>
                <c:pt idx="9">
                  <c:v>14.2</c:v>
                </c:pt>
                <c:pt idx="10">
                  <c:v>14</c:v>
                </c:pt>
                <c:pt idx="11">
                  <c:v>14.2</c:v>
                </c:pt>
                <c:pt idx="12">
                  <c:v>14.9</c:v>
                </c:pt>
                <c:pt idx="13">
                  <c:v>15.9</c:v>
                </c:pt>
                <c:pt idx="14">
                  <c:v>16.1</c:v>
                </c:pt>
                <c:pt idx="15">
                  <c:v>15.9</c:v>
                </c:pt>
                <c:pt idx="16">
                  <c:v>16.9</c:v>
                </c:pt>
                <c:pt idx="17">
                  <c:v>18.2</c:v>
                </c:pt>
                <c:pt idx="18">
                  <c:v>15.5</c:v>
                </c:pt>
                <c:pt idx="19">
                  <c:v>15.9</c:v>
                </c:pt>
                <c:pt idx="20">
                  <c:v>16.5</c:v>
                </c:pt>
                <c:pt idx="21">
                  <c:v>17.4</c:v>
                </c:pt>
                <c:pt idx="22">
                  <c:v>17.5</c:v>
                </c:pt>
                <c:pt idx="23">
                  <c:v>18.1</c:v>
                </c:pt>
                <c:pt idx="24">
                  <c:v>18.3</c:v>
                </c:pt>
                <c:pt idx="25">
                  <c:v>18.9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전국 전체</c:v>
                </c:pt>
              </c:strCache>
            </c:strRef>
          </c:tx>
          <c:spPr>
            <a:solidFill>
              <a:srgbClr val="BFBFBF"/>
            </a:solidFill>
            <a:ln w="31750" cap="flat">
              <a:solidFill>
                <a:srgbClr val="BFBF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FBFBF"/>
              </a:solidFill>
              <a:ln w="9525" cap="flat">
                <a:solidFill>
                  <a:srgbClr val="BFBF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'20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'21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'22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'23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'24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'25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'26</c:v>
                  </c:pt>
                  <c:pt idx="25">
                    <c:v/>
                  </c:pt>
                </c:lvl>
              </c:multiLvlStrCache>
            </c:multiLvl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11.7</c:v>
                </c:pt>
                <c:pt idx="1">
                  <c:v>12</c:v>
                </c:pt>
                <c:pt idx="2">
                  <c:v>12.4</c:v>
                </c:pt>
                <c:pt idx="3">
                  <c:v>12.7</c:v>
                </c:pt>
                <c:pt idx="4">
                  <c:v>13</c:v>
                </c:pt>
                <c:pt idx="5">
                  <c:v>13.1</c:v>
                </c:pt>
                <c:pt idx="6">
                  <c:v>13.3</c:v>
                </c:pt>
                <c:pt idx="7">
                  <c:v>13.5</c:v>
                </c:pt>
                <c:pt idx="8">
                  <c:v>13.2</c:v>
                </c:pt>
                <c:pt idx="9">
                  <c:v>13.1</c:v>
                </c:pt>
                <c:pt idx="10">
                  <c:v>13.1</c:v>
                </c:pt>
                <c:pt idx="11">
                  <c:v>13.2</c:v>
                </c:pt>
                <c:pt idx="12">
                  <c:v>13.3</c:v>
                </c:pt>
                <c:pt idx="13">
                  <c:v>13.5</c:v>
                </c:pt>
                <c:pt idx="14">
                  <c:v>13.6</c:v>
                </c:pt>
                <c:pt idx="15">
                  <c:v>13.5</c:v>
                </c:pt>
                <c:pt idx="16">
                  <c:v>13.7</c:v>
                </c:pt>
                <c:pt idx="17">
                  <c:v>13.8</c:v>
                </c:pt>
                <c:pt idx="18">
                  <c:v>12.7</c:v>
                </c:pt>
                <c:pt idx="19">
                  <c:v>13</c:v>
                </c:pt>
                <c:pt idx="20">
                  <c:v>13.2</c:v>
                </c:pt>
                <c:pt idx="21">
                  <c:v>13.4</c:v>
                </c:pt>
                <c:pt idx="22">
                  <c:v>13.6</c:v>
                </c:pt>
                <c:pt idx="23">
                  <c:v>13.8</c:v>
                </c:pt>
                <c:pt idx="24">
                  <c:v>14.1</c:v>
                </c:pt>
                <c:pt idx="25">
                  <c:v>14.3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9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A9A9A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9A9A9A"/>
                    </a:solidFill>
                    <a:latin typeface="+mn-lt"/>
                  </a:rPr>
                  <a:t>공실률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9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1111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공실률 지수</c:v>
                </c:pt>
              </c:strCache>
            </c:strRef>
          </c:tx>
          <c:spPr>
            <a:solidFill>
              <a:srgbClr val="E8000D"/>
            </a:solidFill>
            <a:ln w="31750" cap="flat">
              <a:solidFill>
                <a:srgbClr val="E8000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000D"/>
              </a:solidFill>
              <a:ln w="9525" cap="flat">
                <a:solidFill>
                  <a:srgbClr val="E8000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'20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'21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'22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'23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'24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'25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'26</c:v>
                  </c:pt>
                  <c:pt idx="25">
                    <c:v/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100</c:v>
                </c:pt>
                <c:pt idx="1">
                  <c:v>100</c:v>
                </c:pt>
                <c:pt idx="2">
                  <c:v>139.7</c:v>
                </c:pt>
                <c:pt idx="3">
                  <c:v>156</c:v>
                </c:pt>
                <c:pt idx="4">
                  <c:v>139.7</c:v>
                </c:pt>
                <c:pt idx="5">
                  <c:v>145.7</c:v>
                </c:pt>
                <c:pt idx="6">
                  <c:v>133.6</c:v>
                </c:pt>
                <c:pt idx="7">
                  <c:v>136.2</c:v>
                </c:pt>
                <c:pt idx="8">
                  <c:v>137.9</c:v>
                </c:pt>
                <c:pt idx="9">
                  <c:v>122.4</c:v>
                </c:pt>
                <c:pt idx="10">
                  <c:v>125</c:v>
                </c:pt>
                <c:pt idx="11">
                  <c:v>135.3</c:v>
                </c:pt>
                <c:pt idx="12">
                  <c:v>168.1</c:v>
                </c:pt>
                <c:pt idx="13">
                  <c:v>180.2</c:v>
                </c:pt>
                <c:pt idx="14">
                  <c:v>181</c:v>
                </c:pt>
                <c:pt idx="15">
                  <c:v>167.2</c:v>
                </c:pt>
                <c:pt idx="16">
                  <c:v>173.3</c:v>
                </c:pt>
                <c:pt idx="17">
                  <c:v>179.3</c:v>
                </c:pt>
                <c:pt idx="18">
                  <c:v>170.7</c:v>
                </c:pt>
                <c:pt idx="19">
                  <c:v>179.3</c:v>
                </c:pt>
                <c:pt idx="20">
                  <c:v>179.3</c:v>
                </c:pt>
                <c:pt idx="21">
                  <c:v>187.9</c:v>
                </c:pt>
                <c:pt idx="22">
                  <c:v>200.9</c:v>
                </c:pt>
                <c:pt idx="23">
                  <c:v>231.9</c:v>
                </c:pt>
                <c:pt idx="24">
                  <c:v>226.7</c:v>
                </c:pt>
                <c:pt idx="25">
                  <c:v>222.4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임대료 지수</c:v>
                </c:pt>
              </c:strCache>
            </c:strRef>
          </c:tx>
          <c:spPr>
            <a:solidFill>
              <a:srgbClr val="111111"/>
            </a:solidFill>
            <a:ln w="31750" cap="flat">
              <a:solidFill>
                <a:srgbClr val="1111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'20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'21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'22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'23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'24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'25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'26</c:v>
                  </c:pt>
                  <c:pt idx="25">
                    <c:v/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100</c:v>
                </c:pt>
                <c:pt idx="1">
                  <c:v>100.9</c:v>
                </c:pt>
                <c:pt idx="2">
                  <c:v>100.9</c:v>
                </c:pt>
                <c:pt idx="3">
                  <c:v>102.3</c:v>
                </c:pt>
                <c:pt idx="4">
                  <c:v>102.3</c:v>
                </c:pt>
                <c:pt idx="5">
                  <c:v>102</c:v>
                </c:pt>
                <c:pt idx="6">
                  <c:v>101.7</c:v>
                </c:pt>
                <c:pt idx="7">
                  <c:v>101.7</c:v>
                </c:pt>
                <c:pt idx="8">
                  <c:v>104.9</c:v>
                </c:pt>
                <c:pt idx="9">
                  <c:v>104.6</c:v>
                </c:pt>
                <c:pt idx="10">
                  <c:v>104.6</c:v>
                </c:pt>
                <c:pt idx="11">
                  <c:v>104.6</c:v>
                </c:pt>
                <c:pt idx="12">
                  <c:v>104.3</c:v>
                </c:pt>
                <c:pt idx="13">
                  <c:v>104.3</c:v>
                </c:pt>
                <c:pt idx="14">
                  <c:v>104</c:v>
                </c:pt>
                <c:pt idx="15">
                  <c:v>104</c:v>
                </c:pt>
                <c:pt idx="16">
                  <c:v>103.7</c:v>
                </c:pt>
                <c:pt idx="17">
                  <c:v>103.4</c:v>
                </c:pt>
                <c:pt idx="18">
                  <c:v>104.3</c:v>
                </c:pt>
                <c:pt idx="19">
                  <c:v>104</c:v>
                </c:pt>
                <c:pt idx="20">
                  <c:v>104</c:v>
                </c:pt>
                <c:pt idx="21">
                  <c:v>103.7</c:v>
                </c:pt>
                <c:pt idx="22">
                  <c:v>103.7</c:v>
                </c:pt>
                <c:pt idx="23">
                  <c:v>103.4</c:v>
                </c:pt>
                <c:pt idx="24">
                  <c:v>103.4</c:v>
                </c:pt>
                <c:pt idx="25">
                  <c:v>102.9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A9A9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90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9A9A9A"/>
                    </a:solidFill>
                    <a:latin typeface="+mn-lt"/>
                  </a:defRPr>
                </a:pPr>
                <a:r>
                  <a:rPr sz="1050" b="0" i="0" u="none" strike="noStrike">
                    <a:solidFill>
                      <a:srgbClr val="9A9A9A"/>
                    </a:solidFill>
                    <a:latin typeface="+mn-lt"/>
                  </a:rPr>
                  <a:t>지수 (2020Q1=100)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9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1111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뮤지컬 관람률(%)</c:v>
                </c:pt>
              </c:strCache>
            </c:strRef>
          </c:tx>
          <c:spPr>
            <a:solidFill>
              <a:srgbClr val="F3A6A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3A6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3A6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D616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000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</c:v>
                </c:pt>
                <c:pt idx="1">
                  <c:v>4.9</c:v>
                </c:pt>
                <c:pt idx="2">
                  <c:v>5.5</c:v>
                </c:pt>
                <c:pt idx="3">
                  <c:v>6.4</c:v>
                </c:pt>
                <c:pt idx="4">
                  <c:v>5.8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1111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A9A9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비율(%)</c:v>
                </c:pt>
              </c:strCache>
            </c:strRef>
          </c:tx>
          <c:spPr>
            <a:solidFill>
              <a:srgbClr val="F3A6A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1111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3A6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61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000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곱창·막창
추천의향</c:v>
                  </c:pt>
                  <c:pt idx="1">
                    <c:v>제과류
쇼핑비중</c:v>
                  </c:pt>
                  <c:pt idx="2">
                    <c:v>당일치기
비율</c:v>
                  </c:pt>
                  <c:pt idx="3">
                    <c:v>재방문
의향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11.5</c:v>
                </c:pt>
                <c:pt idx="1">
                  <c:v>28.2</c:v>
                </c:pt>
                <c:pt idx="2">
                  <c:v>80.1</c:v>
                </c:pt>
                <c:pt idx="3">
                  <c:v>89.7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1111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11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9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PROJECT · 뮤지컬 리서치 트랙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동성로 워크스루 투어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뮤지컬 × 베이커리로 되살리는 동성로의 공실 — 진행상황 &amp; 개선사항 보고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2026. 10. 30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89204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DIMF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6636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20주년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253664" y="4892040"/>
            <a:ext cx="0" cy="8229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0824" y="489204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동성로 중대형 상가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90824" y="516636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00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공실률 25.8%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95848" y="4892040"/>
            <a:ext cx="0" cy="8229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3008" y="489204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대구 관광 쇼핑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516636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00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쇼핑비중 28.2%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938031" y="4892040"/>
            <a:ext cx="0" cy="8229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5191" y="489204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기획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75191" y="516636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워크스루 투어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271455" y="4937760"/>
            <a:ext cx="2926080" cy="2926080"/>
          </a:xfrm>
          <a:prstGeom prst="ellipse">
            <a:avLst/>
          </a:prstGeom>
          <a:ln w="15875">
            <a:solidFill>
              <a:srgbClr val="E8000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002975" y="6492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지금, 왜 동성로인가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1206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25.8%</a:t>
            </a:r>
            <a:endParaRPr lang="en-US" sz="9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동성로 중대형 상가 공실률 (2026년 2분기, 7분기 연속 20%대)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집 중 한 집이 비어있다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33369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618488"/>
            <a:ext cx="5333695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-24%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210816"/>
            <a:ext cx="5333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대구시 문화예산, 3년간 감소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926080"/>
            <a:ext cx="533369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035808"/>
            <a:ext cx="5333695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628136"/>
            <a:ext cx="5333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대구 연극·뮤지컬 관람률  (서울 27.8%)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4343400"/>
            <a:ext cx="533369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4453128"/>
            <a:ext cx="5333695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4.5개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5045456"/>
            <a:ext cx="5333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대구 인구 10만명당 문화기반시설 수  (전국 6.5개)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한국부동산원 R-ONE 상업용부동산 임대동향조사, KOSIS 2025 문화여가활동·문화여가자원 통계, 매일신문(2026.4.10)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1140135" y="5806440"/>
            <a:ext cx="1737360" cy="1737360"/>
          </a:xfrm>
          <a:prstGeom prst="ellipse">
            <a:avLst/>
          </a:prstGeom>
          <a:ln w="15875">
            <a:solidFill>
              <a:srgbClr val="E8000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002975" y="6492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데이터로 본 공실률 추이 — 동성로만 유독 가파르다</a:t>
            </a:r>
            <a:endParaRPr lang="en-US" sz="29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25880"/>
          <a:ext cx="11247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42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2분기 기준  </a:t>
            </a:r>
            <a:pPr algn="l" indent="0" marL="0">
              <a:buNone/>
            </a:pPr>
            <a:r>
              <a:rPr lang="en-US" sz="1300" b="1" dirty="0">
                <a:solidFill>
                  <a:srgbClr val="E800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동성로중심 25.8%</a:t>
            </a:r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대구 전체 18.9%  ·  전국 전체 14.3%  (중대형 상가 기준)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한국부동산원 R-ONE 상업용부동산 임대동향조사(2019Q1~2026Q2)  ※ 2024Q3부터 통계표 개편 — 일부 구간 표본방법 변경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11140135" y="5806440"/>
            <a:ext cx="1737360" cy="1737360"/>
          </a:xfrm>
          <a:prstGeom prst="ellipse">
            <a:avLst/>
          </a:prstGeom>
          <a:ln w="15875">
            <a:solidFill>
              <a:srgbClr val="E8000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002975" y="6492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공실은 2배 넘게 늘었는데, 임대료는 그대로다</a:t>
            </a:r>
            <a:endParaRPr lang="en-US" sz="29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37160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635240" y="1554480"/>
            <a:ext cx="40078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35240" y="1664208"/>
            <a:ext cx="4007815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11.6%→25.8%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635240" y="2129536"/>
            <a:ext cx="4007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동성로중심 공실률, 2020Q1→2026Q2 (지수 222, 2.2배)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635240" y="3017520"/>
            <a:ext cx="40078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35240" y="3127248"/>
            <a:ext cx="4007815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34.9→35.9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3592576"/>
            <a:ext cx="4007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동성로중심 임대료(천원/㎡), 같은 기간 (지수 103, 사실상 제자리)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443484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임대인은 버티고, 공실만 쌓인다 — 임대료가 안 내려가니 자연 회복을 기대하기 어렵다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한국부동산원 R-ONE 상업용부동산 임대동향조사 — 공실률·임대료 분기별(2019Q1~2026Q2), 동성로중심 상권·중대형 상가 기준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1140135" y="5806440"/>
            <a:ext cx="1737360" cy="1737360"/>
          </a:xfrm>
          <a:prstGeom prst="ellipse">
            <a:avLst/>
          </a:prstGeom>
          <a:ln w="15875">
            <a:solidFill>
              <a:srgbClr val="E8000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002975" y="6492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트렌드로 본 기회 — 뮤지컬 수요 × 빵 시장</a:t>
            </a:r>
            <a:endParaRPr lang="en-US" sz="29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417320"/>
          <a:ext cx="5943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50292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뮤지컬 관람률 — 2021년 2.4%에서 2024년 6.4%로 급성장 후 2025년 5.8%로 소폭 둔화. 2021년 대비로는 여전히 2.4배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6858000" y="1371600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베이커리 · 디저트 시장 트렌드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0" y="1874520"/>
            <a:ext cx="2255368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0" y="1984248"/>
            <a:ext cx="22553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22.9%→31.3%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2398776"/>
            <a:ext cx="2255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소매시장 중 케이크 비중 (2021→2025)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387688" y="1874520"/>
            <a:ext cx="2255368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87688" y="1984248"/>
            <a:ext cx="22553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387688" y="2398776"/>
            <a:ext cx="2255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SNS 디저트 언급량, 전년 대비 증가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0" y="3429000"/>
            <a:ext cx="2255368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3538728"/>
            <a:ext cx="22553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39.2%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3953256"/>
            <a:ext cx="2255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베이커리 빵 '압도적' 만족 비중 (양산빵 10.1%)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387688" y="3429000"/>
            <a:ext cx="2255368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87688" y="3538728"/>
            <a:ext cx="22553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6,280억$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387688" y="3953256"/>
            <a:ext cx="2255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2030년 세계 빵류 시장 전망 (2025년 5,165억$)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739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문화체육관광부 「국민문화예술활동조사」, aT 「2026 가공식품 현황조사 — 양산빵 편」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1140135" y="5806440"/>
            <a:ext cx="1737360" cy="1737360"/>
          </a:xfrm>
          <a:prstGeom prst="ellipse">
            <a:avLst/>
          </a:prstGeom>
          <a:ln w="15875">
            <a:solidFill>
              <a:srgbClr val="E8000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002975" y="6492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대구의 두 자산 — 뮤지컬(DIMF) × 빵(베이커리)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095848" y="1463040"/>
            <a:ext cx="0" cy="44805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000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440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DIMF — 아시아 최대 뮤지컬 축제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73152" cy="7315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3172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창작지원 92편 발굴 — 유앤잇(에든버러), 프리다(LA), 투란도트(동유럽 6개국) 해외 진출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73152" cy="7315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044952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제20회(2026): 18일간 7개국 34~35편·122회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22192"/>
            <a:ext cx="73152" cy="7315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758184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유료 관람객: 19회 3만3,867명 / 20회 3만8,014명 (좌석점유율 약 64%)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35424"/>
            <a:ext cx="73152" cy="73152"/>
          </a:xfrm>
          <a:prstGeom prst="ellipse">
            <a:avLst/>
          </a:prstGeom>
          <a:solidFill>
            <a:srgbClr val="E8000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471416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00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'연 30만명' 홍보문구는 집계기준 비공개 — 좌석 기준이 더 정확한 숫자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248656"/>
            <a:ext cx="73152" cy="73152"/>
          </a:xfrm>
          <a:prstGeom prst="ellipse">
            <a:avLst/>
          </a:prstGeom>
          <a:solidFill>
            <a:srgbClr val="E8000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184648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00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제작비 현실성: DIMF 창작지원금 작품당 4천만~1억원 — 슬립노모어(250억원)보다 수백 배 작은 규모로 시작 가능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61608" y="146304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000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61608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빵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38848" y="1463040"/>
            <a:ext cx="440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대구 빵 자산 — 새로운 '살거리'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61608" y="2404872"/>
            <a:ext cx="73152" cy="73152"/>
          </a:xfrm>
          <a:prstGeom prst="ellipse">
            <a:avLst/>
          </a:prstGeom>
          <a:solidFill>
            <a:srgbClr val="E8000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90208" y="2331720"/>
            <a:ext cx="495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00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대구 관광 쇼핑, 제과류 비중 28.2%↑  (곱창·막창 추천의향 11.5%↓)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61608" y="3246120"/>
            <a:ext cx="73152" cy="7315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90208" y="3172968"/>
            <a:ext cx="495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삼송빵집(1957년 창업): 통옥수수빵 하루 3천 개 판매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61608" y="4087368"/>
            <a:ext cx="73152" cy="7315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90208" y="4014216"/>
            <a:ext cx="495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벤치마크 — 대전 성심당 매출 488억→2,629억원 (5년, 5배↑)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61608" y="4928616"/>
            <a:ext cx="73152" cy="7315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90208" y="4855464"/>
            <a:ext cx="495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대구엔 아직 대표 '빵 축제'가 없음 — 비어있는 기회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더뮤지컬(DIMF 20주년), 매일신문·경북매일(관람객), 「관광데이터 기반 대구관광 정책방향 연구」(2025), 대구MBC, 한국경제(2026.4), 대구시 「제20회 DIMF 추진계획」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1140135" y="5806440"/>
            <a:ext cx="1737360" cy="1737360"/>
          </a:xfrm>
          <a:prstGeom prst="ellipse">
            <a:avLst/>
          </a:prstGeom>
          <a:ln w="15875">
            <a:solidFill>
              <a:srgbClr val="E8000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002975" y="6492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업데이트 — 데이터 검증 &amp; 기획 개선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전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4708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DIMF 연 방문객 '약 30만명' (홍보문구 그대로 인용)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57276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후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847088"/>
            <a:ext cx="4830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유료 관람객 기준 3.4만~3.8만명 (좌석점유율 64%) — 공식 집계로 교체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968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전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7121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대구·부산 뮤지컬 티켓 127억 / 304억 (매일신문 인용)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596896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5968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후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871216"/>
            <a:ext cx="4830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문체부·예경센터 공식 집계(전체장르 566억/1,017억)와 범위가 다름 — 1차 출처 재확인 필요로 플래그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511296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6210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전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9534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투어 참가 자격 = DIMF 창작지원작 한정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621024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6210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후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895344"/>
            <a:ext cx="4830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오픈 액세스로 전환 — 대구·전국 신인 창작팀 누구나 신청 가능 (에든버러 프린지 벤치마킹)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535424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45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전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91947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베이커리 연계의 근거 부족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4645152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645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후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919472"/>
            <a:ext cx="4830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동성로 상인회의 '로컬브랜드 육성' 요구와 기획이 일치함을 확인 — 공식 휴게소 연계 근거 확보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559552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64739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대구_뮤지컬_DIMF_데이터조사_검증본(2026.10.29 재검증), 서비스기획_워크스루투어(수정 이력)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1140135" y="5806440"/>
            <a:ext cx="1737360" cy="1737360"/>
          </a:xfrm>
          <a:prstGeom prst="ellipse">
            <a:avLst/>
          </a:prstGeom>
          <a:ln w="15875">
            <a:solidFill>
              <a:srgbClr val="E8000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002975" y="6492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기획이 대구 관광정책 방향과 맞아떨어지는 이유</a:t>
            </a:r>
            <a:endParaRPr lang="en-US" sz="29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0350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995160" y="1463040"/>
            <a:ext cx="464789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995160" y="1600200"/>
            <a:ext cx="4647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곱창·막창 추천의향은 줄고 제과류 쇼핑비중은 늘었다 → '살거리'가 빵으로 이동 중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995160" y="2468880"/>
            <a:ext cx="464789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95160" y="2606040"/>
            <a:ext cx="4647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당일치기 80.1% · 평균 체류 1.2일 → 체류형 콘텐츠가 필요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95160" y="3474720"/>
            <a:ext cx="464789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95160" y="3611880"/>
            <a:ext cx="4647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재방문 의향 89.7% (평균 방문 4.8회) → '가볍게 자주 오는' 콘텐츠가 효과적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95160" y="4480560"/>
            <a:ext cx="464789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4617720"/>
            <a:ext cx="4647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20~40대 여성·고소득층 재방문율 최상위 → 공연+디저트 패키지와 타겟 일치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95160" y="5486400"/>
            <a:ext cx="464789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64739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「관광데이터에 기반한 대구관광 정책 방향 연구」(2025) 제4장 내국인 관광정책 방향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1140135" y="5806440"/>
            <a:ext cx="1737360" cy="1737360"/>
          </a:xfrm>
          <a:prstGeom prst="ellipse">
            <a:avLst/>
          </a:prstGeom>
          <a:ln w="15875">
            <a:solidFill>
              <a:srgbClr val="E8000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002975" y="6492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추진 로드맵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1005840" y="2331720"/>
            <a:ext cx="1018001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47672" y="203911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000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47672" y="2039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70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스테이션 공모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후보지 실사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액세스 참가팀 공모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18050" y="203911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000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18050" y="2039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76218" y="2770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2026.12~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576218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파트너 협약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67658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베이커리 휴게소 협약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(대빵·삼송빵집 등)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88429" y="203911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000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88429" y="2039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146597" y="2770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DIMF 기간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146597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운영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38037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18일간 워크스루 투어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체크인·설문 데이터 수집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58807" y="203911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000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58807" y="2039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716975" y="2770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하반기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716975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반영 · 확대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808415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데이터 → 대시보드·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수요예측 모델, 상설화 검토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94415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44068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00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주체 win-win   </a:t>
            </a:r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시민의 즐길거리  ·  대구의 문화 인프라 격차 해소  ·  참여 기업(베이커리 등)의 홍보 효과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140135" y="5806440"/>
            <a:ext cx="1737360" cy="1737360"/>
          </a:xfrm>
          <a:prstGeom prst="ellipse">
            <a:avLst/>
          </a:prstGeom>
          <a:ln w="15875">
            <a:solidFill>
              <a:srgbClr val="E8000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002975" y="6492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2026-10-29T08:26:24Z</dcterms:created>
  <dcterms:modified xsi:type="dcterms:W3CDTF">2026-10-29T08:26:24Z</dcterms:modified>
</cp:coreProperties>
</file>