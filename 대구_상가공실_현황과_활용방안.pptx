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중대형 상가 공실률 추이 </a:t>
            </a:r>
            <a:r>
              <a:rPr lang="en-US" altLang="ko-KR" sz="1400" b="1">
                <a:solidFill>
                  <a:srgbClr val="1B2B34"/>
                </a:solidFill>
              </a:rPr>
              <a:t>(%, 2019Q1~2026Q2)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대구</c:v>
                </c:pt>
              </c:strCache>
            </c:strRef>
          </c:tx>
          <c:spPr>
            <a:ln w="44450" cap="rnd">
              <a:solidFill>
                <a:srgbClr val="E4572E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2019Q1</c:v>
                </c:pt>
                <c:pt idx="1">
                  <c:v>2019Q2</c:v>
                </c:pt>
                <c:pt idx="2">
                  <c:v>2019Q3</c:v>
                </c:pt>
                <c:pt idx="3">
                  <c:v>2019Q4</c:v>
                </c:pt>
                <c:pt idx="4">
                  <c:v>2020Q1</c:v>
                </c:pt>
                <c:pt idx="5">
                  <c:v>2020Q2</c:v>
                </c:pt>
                <c:pt idx="6">
                  <c:v>2020Q3</c:v>
                </c:pt>
                <c:pt idx="7">
                  <c:v>2020Q4</c:v>
                </c:pt>
                <c:pt idx="8">
                  <c:v>2021Q1</c:v>
                </c:pt>
                <c:pt idx="9">
                  <c:v>2021Q2</c:v>
                </c:pt>
                <c:pt idx="10">
                  <c:v>2021Q3</c:v>
                </c:pt>
                <c:pt idx="11">
                  <c:v>2021Q4</c:v>
                </c:pt>
                <c:pt idx="12">
                  <c:v>2022Q1</c:v>
                </c:pt>
                <c:pt idx="13">
                  <c:v>2022Q2</c:v>
                </c:pt>
                <c:pt idx="14">
                  <c:v>2022Q3</c:v>
                </c:pt>
                <c:pt idx="15">
                  <c:v>2022Q4</c:v>
                </c:pt>
                <c:pt idx="16">
                  <c:v>2023Q1</c:v>
                </c:pt>
                <c:pt idx="17">
                  <c:v>2023Q2</c:v>
                </c:pt>
                <c:pt idx="18">
                  <c:v>2023Q3</c:v>
                </c:pt>
                <c:pt idx="19">
                  <c:v>2023Q4</c:v>
                </c:pt>
                <c:pt idx="20">
                  <c:v>2024Q1</c:v>
                </c:pt>
                <c:pt idx="21">
                  <c:v>2024Q2</c:v>
                </c:pt>
                <c:pt idx="22">
                  <c:v>2024Q3</c:v>
                </c:pt>
                <c:pt idx="23">
                  <c:v>2024Q4</c:v>
                </c:pt>
                <c:pt idx="24">
                  <c:v>2025Q1</c:v>
                </c:pt>
                <c:pt idx="25">
                  <c:v>2025Q2</c:v>
                </c:pt>
                <c:pt idx="26">
                  <c:v>2025Q3</c:v>
                </c:pt>
                <c:pt idx="27">
                  <c:v>2025Q4</c:v>
                </c:pt>
                <c:pt idx="28">
                  <c:v>2026Q1</c:v>
                </c:pt>
                <c:pt idx="29">
                  <c:v>2026Q2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14.1</c:v>
                </c:pt>
                <c:pt idx="1">
                  <c:v>14.9</c:v>
                </c:pt>
                <c:pt idx="2">
                  <c:v>14.2</c:v>
                </c:pt>
                <c:pt idx="3">
                  <c:v>15.4</c:v>
                </c:pt>
                <c:pt idx="4">
                  <c:v>15.2</c:v>
                </c:pt>
                <c:pt idx="5">
                  <c:v>15.9</c:v>
                </c:pt>
                <c:pt idx="6">
                  <c:v>16.2</c:v>
                </c:pt>
                <c:pt idx="7">
                  <c:v>16.8</c:v>
                </c:pt>
                <c:pt idx="8">
                  <c:v>17.399999999999999</c:v>
                </c:pt>
                <c:pt idx="9">
                  <c:v>16.600000000000001</c:v>
                </c:pt>
                <c:pt idx="10">
                  <c:v>15</c:v>
                </c:pt>
                <c:pt idx="11">
                  <c:v>14.5</c:v>
                </c:pt>
                <c:pt idx="12">
                  <c:v>14.3</c:v>
                </c:pt>
                <c:pt idx="13">
                  <c:v>14.2</c:v>
                </c:pt>
                <c:pt idx="14">
                  <c:v>14</c:v>
                </c:pt>
                <c:pt idx="15">
                  <c:v>14.2</c:v>
                </c:pt>
                <c:pt idx="16">
                  <c:v>14.9</c:v>
                </c:pt>
                <c:pt idx="17">
                  <c:v>15.9</c:v>
                </c:pt>
                <c:pt idx="18">
                  <c:v>16.100000000000001</c:v>
                </c:pt>
                <c:pt idx="19">
                  <c:v>15.9</c:v>
                </c:pt>
                <c:pt idx="20">
                  <c:v>16.899999999999999</c:v>
                </c:pt>
                <c:pt idx="21">
                  <c:v>18.2</c:v>
                </c:pt>
                <c:pt idx="22">
                  <c:v>15.5</c:v>
                </c:pt>
                <c:pt idx="23">
                  <c:v>15.9</c:v>
                </c:pt>
                <c:pt idx="24">
                  <c:v>16.5</c:v>
                </c:pt>
                <c:pt idx="25">
                  <c:v>17.399999999999999</c:v>
                </c:pt>
                <c:pt idx="26">
                  <c:v>17.5</c:v>
                </c:pt>
                <c:pt idx="27">
                  <c:v>18.100000000000001</c:v>
                </c:pt>
                <c:pt idx="28">
                  <c:v>18.3</c:v>
                </c:pt>
                <c:pt idx="29">
                  <c:v>18.899999999999999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B2-43E4-8E9F-C924F504F8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전국</c:v>
                </c:pt>
              </c:strCache>
            </c:strRef>
          </c:tx>
          <c:spPr>
            <a:ln w="25400" cap="rnd">
              <a:solidFill>
                <a:srgbClr val="0E7C7B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2019Q1</c:v>
                </c:pt>
                <c:pt idx="1">
                  <c:v>2019Q2</c:v>
                </c:pt>
                <c:pt idx="2">
                  <c:v>2019Q3</c:v>
                </c:pt>
                <c:pt idx="3">
                  <c:v>2019Q4</c:v>
                </c:pt>
                <c:pt idx="4">
                  <c:v>2020Q1</c:v>
                </c:pt>
                <c:pt idx="5">
                  <c:v>2020Q2</c:v>
                </c:pt>
                <c:pt idx="6">
                  <c:v>2020Q3</c:v>
                </c:pt>
                <c:pt idx="7">
                  <c:v>2020Q4</c:v>
                </c:pt>
                <c:pt idx="8">
                  <c:v>2021Q1</c:v>
                </c:pt>
                <c:pt idx="9">
                  <c:v>2021Q2</c:v>
                </c:pt>
                <c:pt idx="10">
                  <c:v>2021Q3</c:v>
                </c:pt>
                <c:pt idx="11">
                  <c:v>2021Q4</c:v>
                </c:pt>
                <c:pt idx="12">
                  <c:v>2022Q1</c:v>
                </c:pt>
                <c:pt idx="13">
                  <c:v>2022Q2</c:v>
                </c:pt>
                <c:pt idx="14">
                  <c:v>2022Q3</c:v>
                </c:pt>
                <c:pt idx="15">
                  <c:v>2022Q4</c:v>
                </c:pt>
                <c:pt idx="16">
                  <c:v>2023Q1</c:v>
                </c:pt>
                <c:pt idx="17">
                  <c:v>2023Q2</c:v>
                </c:pt>
                <c:pt idx="18">
                  <c:v>2023Q3</c:v>
                </c:pt>
                <c:pt idx="19">
                  <c:v>2023Q4</c:v>
                </c:pt>
                <c:pt idx="20">
                  <c:v>2024Q1</c:v>
                </c:pt>
                <c:pt idx="21">
                  <c:v>2024Q2</c:v>
                </c:pt>
                <c:pt idx="22">
                  <c:v>2024Q3</c:v>
                </c:pt>
                <c:pt idx="23">
                  <c:v>2024Q4</c:v>
                </c:pt>
                <c:pt idx="24">
                  <c:v>2025Q1</c:v>
                </c:pt>
                <c:pt idx="25">
                  <c:v>2025Q2</c:v>
                </c:pt>
                <c:pt idx="26">
                  <c:v>2025Q3</c:v>
                </c:pt>
                <c:pt idx="27">
                  <c:v>2025Q4</c:v>
                </c:pt>
                <c:pt idx="28">
                  <c:v>2026Q1</c:v>
                </c:pt>
                <c:pt idx="29">
                  <c:v>2026Q2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11.3</c:v>
                </c:pt>
                <c:pt idx="1">
                  <c:v>11.5</c:v>
                </c:pt>
                <c:pt idx="2">
                  <c:v>11.5</c:v>
                </c:pt>
                <c:pt idx="3">
                  <c:v>11.7</c:v>
                </c:pt>
                <c:pt idx="4">
                  <c:v>11.7</c:v>
                </c:pt>
                <c:pt idx="5">
                  <c:v>12</c:v>
                </c:pt>
                <c:pt idx="6">
                  <c:v>12.4</c:v>
                </c:pt>
                <c:pt idx="7">
                  <c:v>12.7</c:v>
                </c:pt>
                <c:pt idx="8">
                  <c:v>13</c:v>
                </c:pt>
                <c:pt idx="9">
                  <c:v>13.1</c:v>
                </c:pt>
                <c:pt idx="10">
                  <c:v>13.3</c:v>
                </c:pt>
                <c:pt idx="11">
                  <c:v>13.5</c:v>
                </c:pt>
                <c:pt idx="12">
                  <c:v>13.2</c:v>
                </c:pt>
                <c:pt idx="13">
                  <c:v>13.1</c:v>
                </c:pt>
                <c:pt idx="14">
                  <c:v>13.1</c:v>
                </c:pt>
                <c:pt idx="15">
                  <c:v>13.2</c:v>
                </c:pt>
                <c:pt idx="16">
                  <c:v>13.3</c:v>
                </c:pt>
                <c:pt idx="17">
                  <c:v>13.5</c:v>
                </c:pt>
                <c:pt idx="18">
                  <c:v>13.6</c:v>
                </c:pt>
                <c:pt idx="19">
                  <c:v>13.5</c:v>
                </c:pt>
                <c:pt idx="20">
                  <c:v>13.7</c:v>
                </c:pt>
                <c:pt idx="21">
                  <c:v>13.8</c:v>
                </c:pt>
                <c:pt idx="22">
                  <c:v>12.7</c:v>
                </c:pt>
                <c:pt idx="23">
                  <c:v>13</c:v>
                </c:pt>
                <c:pt idx="24">
                  <c:v>13.2</c:v>
                </c:pt>
                <c:pt idx="25">
                  <c:v>13.4</c:v>
                </c:pt>
                <c:pt idx="26">
                  <c:v>13.6</c:v>
                </c:pt>
                <c:pt idx="27">
                  <c:v>13.8</c:v>
                </c:pt>
                <c:pt idx="28">
                  <c:v>14.1</c:v>
                </c:pt>
                <c:pt idx="29">
                  <c:v>14.3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B2-43E4-8E9F-C924F504F8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서울</c:v>
                </c:pt>
              </c:strCache>
            </c:strRef>
          </c:tx>
          <c:spPr>
            <a:ln w="25400" cap="rnd">
              <a:solidFill>
                <a:srgbClr val="8A97A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2019Q1</c:v>
                </c:pt>
                <c:pt idx="1">
                  <c:v>2019Q2</c:v>
                </c:pt>
                <c:pt idx="2">
                  <c:v>2019Q3</c:v>
                </c:pt>
                <c:pt idx="3">
                  <c:v>2019Q4</c:v>
                </c:pt>
                <c:pt idx="4">
                  <c:v>2020Q1</c:v>
                </c:pt>
                <c:pt idx="5">
                  <c:v>2020Q2</c:v>
                </c:pt>
                <c:pt idx="6">
                  <c:v>2020Q3</c:v>
                </c:pt>
                <c:pt idx="7">
                  <c:v>2020Q4</c:v>
                </c:pt>
                <c:pt idx="8">
                  <c:v>2021Q1</c:v>
                </c:pt>
                <c:pt idx="9">
                  <c:v>2021Q2</c:v>
                </c:pt>
                <c:pt idx="10">
                  <c:v>2021Q3</c:v>
                </c:pt>
                <c:pt idx="11">
                  <c:v>2021Q4</c:v>
                </c:pt>
                <c:pt idx="12">
                  <c:v>2022Q1</c:v>
                </c:pt>
                <c:pt idx="13">
                  <c:v>2022Q2</c:v>
                </c:pt>
                <c:pt idx="14">
                  <c:v>2022Q3</c:v>
                </c:pt>
                <c:pt idx="15">
                  <c:v>2022Q4</c:v>
                </c:pt>
                <c:pt idx="16">
                  <c:v>2023Q1</c:v>
                </c:pt>
                <c:pt idx="17">
                  <c:v>2023Q2</c:v>
                </c:pt>
                <c:pt idx="18">
                  <c:v>2023Q3</c:v>
                </c:pt>
                <c:pt idx="19">
                  <c:v>2023Q4</c:v>
                </c:pt>
                <c:pt idx="20">
                  <c:v>2024Q1</c:v>
                </c:pt>
                <c:pt idx="21">
                  <c:v>2024Q2</c:v>
                </c:pt>
                <c:pt idx="22">
                  <c:v>2024Q3</c:v>
                </c:pt>
                <c:pt idx="23">
                  <c:v>2024Q4</c:v>
                </c:pt>
                <c:pt idx="24">
                  <c:v>2025Q1</c:v>
                </c:pt>
                <c:pt idx="25">
                  <c:v>2025Q2</c:v>
                </c:pt>
                <c:pt idx="26">
                  <c:v>2025Q3</c:v>
                </c:pt>
                <c:pt idx="27">
                  <c:v>2025Q4</c:v>
                </c:pt>
                <c:pt idx="28">
                  <c:v>2026Q1</c:v>
                </c:pt>
                <c:pt idx="29">
                  <c:v>2026Q2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7.5</c:v>
                </c:pt>
                <c:pt idx="1">
                  <c:v>7.4</c:v>
                </c:pt>
                <c:pt idx="2">
                  <c:v>7.5</c:v>
                </c:pt>
                <c:pt idx="3">
                  <c:v>8</c:v>
                </c:pt>
                <c:pt idx="4">
                  <c:v>7.9</c:v>
                </c:pt>
                <c:pt idx="5">
                  <c:v>7.9</c:v>
                </c:pt>
                <c:pt idx="6">
                  <c:v>8.5</c:v>
                </c:pt>
                <c:pt idx="7">
                  <c:v>8.8000000000000007</c:v>
                </c:pt>
                <c:pt idx="8">
                  <c:v>8.9</c:v>
                </c:pt>
                <c:pt idx="9">
                  <c:v>9.5</c:v>
                </c:pt>
                <c:pt idx="10">
                  <c:v>9.6999999999999993</c:v>
                </c:pt>
                <c:pt idx="11">
                  <c:v>10</c:v>
                </c:pt>
                <c:pt idx="12">
                  <c:v>9.5</c:v>
                </c:pt>
                <c:pt idx="13">
                  <c:v>9.5</c:v>
                </c:pt>
                <c:pt idx="14">
                  <c:v>9.1</c:v>
                </c:pt>
                <c:pt idx="15">
                  <c:v>9.1</c:v>
                </c:pt>
                <c:pt idx="16">
                  <c:v>8.6</c:v>
                </c:pt>
                <c:pt idx="17">
                  <c:v>8.4</c:v>
                </c:pt>
                <c:pt idx="18">
                  <c:v>8.8000000000000007</c:v>
                </c:pt>
                <c:pt idx="19">
                  <c:v>8.4</c:v>
                </c:pt>
                <c:pt idx="20">
                  <c:v>8.4</c:v>
                </c:pt>
                <c:pt idx="21">
                  <c:v>8.5</c:v>
                </c:pt>
                <c:pt idx="22">
                  <c:v>8.6999999999999993</c:v>
                </c:pt>
                <c:pt idx="23">
                  <c:v>8.9</c:v>
                </c:pt>
                <c:pt idx="24">
                  <c:v>8.9</c:v>
                </c:pt>
                <c:pt idx="25">
                  <c:v>8.6999999999999993</c:v>
                </c:pt>
                <c:pt idx="26">
                  <c:v>8.9</c:v>
                </c:pt>
                <c:pt idx="27">
                  <c:v>9.1</c:v>
                </c:pt>
                <c:pt idx="28">
                  <c:v>9.3000000000000007</c:v>
                </c:pt>
                <c:pt idx="29">
                  <c:v>9.6999999999999993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0B2-43E4-8E9F-C924F504F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4577520"/>
        <c:axId val="434578768"/>
      </c:lineChart>
      <c:catAx>
        <c:axId val="43457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34578768"/>
        <c:crosses val="autoZero"/>
        <c:auto val="1"/>
        <c:lblAlgn val="ctr"/>
        <c:lblOffset val="100"/>
        <c:tickLblSkip val="4"/>
        <c:noMultiLvlLbl val="0"/>
      </c:catAx>
      <c:valAx>
        <c:axId val="4345787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34577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F6B73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상가 유형별 공실률 </a:t>
            </a:r>
            <a:r>
              <a:rPr lang="en-US" altLang="ko-KR" sz="1400" b="1">
                <a:solidFill>
                  <a:srgbClr val="1B2B34"/>
                </a:solidFill>
              </a:rPr>
              <a:t>(%, 2026Q2)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전국</c:v>
                </c:pt>
              </c:strCache>
            </c:strRef>
          </c:tx>
          <c:spPr>
            <a:solidFill>
              <a:srgbClr val="8A97A0"/>
            </a:solidFill>
            <a:ln>
              <a:solidFill>
                <a:srgbClr val="8A97A0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중대형</c:v>
                </c:pt>
                <c:pt idx="1">
                  <c:v>소규모</c:v>
                </c:pt>
                <c:pt idx="2">
                  <c:v>집합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</c:v>
                </c:pt>
                <c:pt idx="1">
                  <c:v>8.5</c:v>
                </c:pt>
                <c:pt idx="2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6-4340-9C3B-2D1E9D145A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서울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중대형</c:v>
                </c:pt>
                <c:pt idx="1">
                  <c:v>소규모</c:v>
                </c:pt>
                <c:pt idx="2">
                  <c:v>집합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9.6999999999999993</c:v>
                </c:pt>
                <c:pt idx="1">
                  <c:v>6.4</c:v>
                </c:pt>
                <c:pt idx="2">
                  <c:v>9.3000000000000007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76-4340-9C3B-2D1E9D145A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대구</c:v>
                </c:pt>
              </c:strCache>
            </c:strRef>
          </c:tx>
          <c:spPr>
            <a:solidFill>
              <a:srgbClr val="E4572E"/>
            </a:solidFill>
            <a:ln>
              <a:solidFill>
                <a:srgbClr val="E4572E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중대형</c:v>
                </c:pt>
                <c:pt idx="1">
                  <c:v>소규모</c:v>
                </c:pt>
                <c:pt idx="2">
                  <c:v>집합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18.899999999999999</c:v>
                </c:pt>
                <c:pt idx="1">
                  <c:v>10.8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76-4340-9C3B-2D1E9D145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361084144"/>
        <c:axId val="361082480"/>
      </c:barChart>
      <c:catAx>
        <c:axId val="36108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361082480"/>
        <c:crosses val="autoZero"/>
        <c:auto val="1"/>
        <c:lblAlgn val="ctr"/>
        <c:lblOffset val="100"/>
        <c:noMultiLvlLbl val="0"/>
      </c:catAx>
      <c:valAx>
        <c:axId val="36108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36108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F6B73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200" b="1">
                <a:solidFill>
                  <a:srgbClr val="1B2B34"/>
                </a:solidFill>
              </a:rPr>
              <a:t>대구 소규모 상가 공실률 </a:t>
            </a:r>
            <a:r>
              <a:rPr lang="en-US" altLang="ko-KR" sz="1200" b="1">
                <a:solidFill>
                  <a:srgbClr val="1B2B34"/>
                </a:solidFill>
              </a:rPr>
              <a:t>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대구 소규모</c:v>
                </c:pt>
              </c:strCache>
            </c:strRef>
          </c:tx>
          <c:spPr>
            <a:ln w="38100" cap="rnd">
              <a:solidFill>
                <a:srgbClr val="E4572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38100">
                <a:solidFill>
                  <a:srgbClr val="E4572E"/>
                </a:solidFill>
                <a:prstDash val="solid"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2019Q1</c:v>
                </c:pt>
                <c:pt idx="1">
                  <c:v>2020Q1</c:v>
                </c:pt>
                <c:pt idx="2">
                  <c:v>2021Q1</c:v>
                </c:pt>
                <c:pt idx="3">
                  <c:v>2022Q1</c:v>
                </c:pt>
                <c:pt idx="4">
                  <c:v>2023Q1</c:v>
                </c:pt>
                <c:pt idx="5">
                  <c:v>2024Q1</c:v>
                </c:pt>
                <c:pt idx="6">
                  <c:v>2025Q1</c:v>
                </c:pt>
                <c:pt idx="7">
                  <c:v>2026Q1</c:v>
                </c:pt>
                <c:pt idx="8">
                  <c:v>2026Q2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5.2</c:v>
                </c:pt>
                <c:pt idx="2">
                  <c:v>6</c:v>
                </c:pt>
                <c:pt idx="3">
                  <c:v>8.1</c:v>
                </c:pt>
                <c:pt idx="4">
                  <c:v>8</c:v>
                </c:pt>
                <c:pt idx="5">
                  <c:v>8.8000000000000007</c:v>
                </c:pt>
                <c:pt idx="6">
                  <c:v>8.1999999999999993</c:v>
                </c:pt>
                <c:pt idx="7">
                  <c:v>10.4</c:v>
                </c:pt>
                <c:pt idx="8">
                  <c:v>10.8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C3-41C3-A93D-715C647A3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1083312"/>
        <c:axId val="441624448"/>
      </c:lineChart>
      <c:catAx>
        <c:axId val="36108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1624448"/>
        <c:crosses val="autoZero"/>
        <c:auto val="1"/>
        <c:lblAlgn val="ctr"/>
        <c:lblOffset val="100"/>
        <c:tickLblSkip val="2"/>
        <c:noMultiLvlLbl val="0"/>
      </c:catAx>
      <c:valAx>
        <c:axId val="44162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361083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대구 상권별 중대형 상가 공실률 </a:t>
            </a:r>
            <a:r>
              <a:rPr lang="en-US" altLang="ko-KR" sz="1400" b="1">
                <a:solidFill>
                  <a:srgbClr val="1B2B34"/>
                </a:solidFill>
              </a:rPr>
              <a:t>(%, 2026Q2)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중대형 공실률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CD2-4935-AB89-C3CEF9445625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CD2-4935-AB89-C3CEF9445625}"/>
              </c:ext>
            </c:extLst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CD2-4935-AB89-C3CEF9445625}"/>
              </c:ext>
            </c:extLst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CD2-4935-AB89-C3CEF9445625}"/>
              </c:ext>
            </c:extLst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CD2-4935-AB89-C3CEF9445625}"/>
              </c:ext>
            </c:extLst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CD2-4935-AB89-C3CEF9445625}"/>
              </c:ext>
            </c:extLst>
          </c:dPt>
          <c:dPt>
            <c:idx val="6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CD2-4935-AB89-C3CEF9445625}"/>
              </c:ext>
            </c:extLst>
          </c:dPt>
          <c:dPt>
            <c:idx val="7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CD2-4935-AB89-C3CEF9445625}"/>
              </c:ext>
            </c:extLst>
          </c:dPt>
          <c:dPt>
            <c:idx val="8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CD2-4935-AB89-C3CEF9445625}"/>
              </c:ext>
            </c:extLst>
          </c:dPt>
          <c:dPt>
            <c:idx val="9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CD2-4935-AB89-C3CEF9445625}"/>
              </c:ext>
            </c:extLst>
          </c:dPt>
          <c:dPt>
            <c:idx val="10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CD2-4935-AB89-C3CEF9445625}"/>
              </c:ext>
            </c:extLst>
          </c:dPt>
          <c:dPt>
            <c:idx val="11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ECD2-4935-AB89-C3CEF9445625}"/>
              </c:ext>
            </c:extLst>
          </c:dPt>
          <c:dPt>
            <c:idx val="12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CD2-4935-AB89-C3CEF9445625}"/>
              </c:ext>
            </c:extLst>
          </c:dPt>
          <c:dPt>
            <c:idx val="13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ECD2-4935-AB89-C3CEF9445625}"/>
              </c:ext>
            </c:extLst>
          </c:dPt>
          <c:dPt>
            <c:idx val="14"/>
            <c:invertIfNegative val="0"/>
            <c:bubble3D val="0"/>
            <c:spPr>
              <a:solidFill>
                <a:srgbClr val="0E7C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CD2-4935-AB89-C3CEF944562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서문시장/청라언덕</c:v>
                </c:pt>
                <c:pt idx="1">
                  <c:v>동성로중심</c:v>
                </c:pt>
                <c:pt idx="2">
                  <c:v>계명대</c:v>
                </c:pt>
                <c:pt idx="3">
                  <c:v>상인/월배</c:v>
                </c:pt>
                <c:pt idx="4">
                  <c:v>시지지구</c:v>
                </c:pt>
                <c:pt idx="5">
                  <c:v>죽전역</c:v>
                </c:pt>
                <c:pt idx="6">
                  <c:v>경북대북문</c:v>
                </c:pt>
                <c:pt idx="7">
                  <c:v>월촌/안지랑</c:v>
                </c:pt>
                <c:pt idx="8">
                  <c:v>두류감삼역</c:v>
                </c:pt>
                <c:pt idx="9">
                  <c:v>동대구</c:v>
                </c:pt>
                <c:pt idx="10">
                  <c:v>삼덕/대봉</c:v>
                </c:pt>
                <c:pt idx="11">
                  <c:v>칠곡</c:v>
                </c:pt>
                <c:pt idx="12">
                  <c:v>수성범어</c:v>
                </c:pt>
                <c:pt idx="13">
                  <c:v>들안길</c:v>
                </c:pt>
                <c:pt idx="14">
                  <c:v>동호지구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38.299999999999997</c:v>
                </c:pt>
                <c:pt idx="1">
                  <c:v>25.8</c:v>
                </c:pt>
                <c:pt idx="2">
                  <c:v>23.3</c:v>
                </c:pt>
                <c:pt idx="3">
                  <c:v>22.7</c:v>
                </c:pt>
                <c:pt idx="4">
                  <c:v>20.7</c:v>
                </c:pt>
                <c:pt idx="5">
                  <c:v>20</c:v>
                </c:pt>
                <c:pt idx="6">
                  <c:v>19.3</c:v>
                </c:pt>
                <c:pt idx="7">
                  <c:v>18.399999999999999</c:v>
                </c:pt>
                <c:pt idx="8">
                  <c:v>18.3</c:v>
                </c:pt>
                <c:pt idx="9">
                  <c:v>17.2</c:v>
                </c:pt>
                <c:pt idx="10">
                  <c:v>14.3</c:v>
                </c:pt>
                <c:pt idx="11">
                  <c:v>14.2</c:v>
                </c:pt>
                <c:pt idx="12">
                  <c:v>13.8</c:v>
                </c:pt>
                <c:pt idx="13">
                  <c:v>5.2</c:v>
                </c:pt>
                <c:pt idx="1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D2-4935-AB89-C3CEF9445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34577104"/>
        <c:axId val="443897664"/>
      </c:barChart>
      <c:catAx>
        <c:axId val="4345771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3897664"/>
        <c:crosses val="autoZero"/>
        <c:auto val="1"/>
        <c:lblAlgn val="ctr"/>
        <c:lblOffset val="100"/>
        <c:noMultiLvlLbl val="0"/>
      </c:catAx>
      <c:valAx>
        <c:axId val="443897664"/>
        <c:scaling>
          <c:orientation val="minMax"/>
          <c:min val="0"/>
        </c:scaling>
        <c:delete val="0"/>
        <c:axPos val="t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3457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동성로중심 상권 공실률 </a:t>
            </a:r>
            <a:r>
              <a:rPr lang="en-US" altLang="ko-KR" sz="1400" b="1">
                <a:solidFill>
                  <a:srgbClr val="1B2B34"/>
                </a:solidFill>
              </a:rPr>
              <a:t>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중대형</c:v>
                </c:pt>
              </c:strCache>
            </c:strRef>
          </c:tx>
          <c:spPr>
            <a:solidFill>
              <a:srgbClr val="E4572E"/>
            </a:solidFill>
            <a:ln>
              <a:solidFill>
                <a:srgbClr val="E4572E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2024Q4</c:v>
                </c:pt>
                <c:pt idx="1">
                  <c:v>2025Q1</c:v>
                </c:pt>
                <c:pt idx="2">
                  <c:v>2025Q2</c:v>
                </c:pt>
                <c:pt idx="3">
                  <c:v>2025Q3</c:v>
                </c:pt>
                <c:pt idx="4">
                  <c:v>2025Q4</c:v>
                </c:pt>
                <c:pt idx="5">
                  <c:v>2026Q1</c:v>
                </c:pt>
                <c:pt idx="6">
                  <c:v>2026Q2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20.8</c:v>
                </c:pt>
                <c:pt idx="1">
                  <c:v>20.8</c:v>
                </c:pt>
                <c:pt idx="2">
                  <c:v>21.8</c:v>
                </c:pt>
                <c:pt idx="3">
                  <c:v>23.3</c:v>
                </c:pt>
                <c:pt idx="4">
                  <c:v>26.9</c:v>
                </c:pt>
                <c:pt idx="5">
                  <c:v>26.3</c:v>
                </c:pt>
                <c:pt idx="6">
                  <c:v>25.8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8-4DE8-9AEE-9AC86CA59E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소규모</c:v>
                </c:pt>
              </c:strCache>
            </c:strRef>
          </c:tx>
          <c:spPr>
            <a:solidFill>
              <a:srgbClr val="1B2B34"/>
            </a:solidFill>
            <a:ln>
              <a:solidFill>
                <a:srgbClr val="1B2B34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2024Q4</c:v>
                </c:pt>
                <c:pt idx="1">
                  <c:v>2025Q1</c:v>
                </c:pt>
                <c:pt idx="2">
                  <c:v>2025Q2</c:v>
                </c:pt>
                <c:pt idx="3">
                  <c:v>2025Q3</c:v>
                </c:pt>
                <c:pt idx="4">
                  <c:v>2025Q4</c:v>
                </c:pt>
                <c:pt idx="5">
                  <c:v>2026Q1</c:v>
                </c:pt>
                <c:pt idx="6">
                  <c:v>2026Q2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11.1</c:v>
                </c:pt>
                <c:pt idx="1">
                  <c:v>13.4</c:v>
                </c:pt>
                <c:pt idx="2">
                  <c:v>13.4</c:v>
                </c:pt>
                <c:pt idx="3">
                  <c:v>11.5</c:v>
                </c:pt>
                <c:pt idx="4">
                  <c:v>15</c:v>
                </c:pt>
                <c:pt idx="5">
                  <c:v>17</c:v>
                </c:pt>
                <c:pt idx="6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28-4DE8-9AEE-9AC86CA59E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356603536"/>
        <c:axId val="356601872"/>
      </c:barChart>
      <c:catAx>
        <c:axId val="35660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356601872"/>
        <c:crosses val="autoZero"/>
        <c:auto val="1"/>
        <c:lblAlgn val="ctr"/>
        <c:lblOffset val="100"/>
        <c:noMultiLvlLbl val="0"/>
      </c:catAx>
      <c:valAx>
        <c:axId val="35660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356603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F6B73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대구 연간 개업</a:t>
            </a:r>
            <a:r>
              <a:rPr lang="en-US" altLang="ko-KR" sz="1400" b="1">
                <a:solidFill>
                  <a:srgbClr val="1B2B34"/>
                </a:solidFill>
              </a:rPr>
              <a:t>·</a:t>
            </a:r>
            <a:r>
              <a:rPr lang="ko-KR" altLang="en-US" sz="1400" b="1">
                <a:solidFill>
                  <a:srgbClr val="1B2B34"/>
                </a:solidFill>
              </a:rPr>
              <a:t>폐업 사업자 수 </a:t>
            </a:r>
            <a:r>
              <a:rPr lang="en-US" altLang="ko-KR" sz="1400" b="1">
                <a:solidFill>
                  <a:srgbClr val="1B2B34"/>
                </a:solidFill>
              </a:rPr>
              <a:t>(</a:t>
            </a:r>
            <a:r>
              <a:rPr lang="ko-KR" altLang="en-US" sz="1400" b="1">
                <a:solidFill>
                  <a:srgbClr val="1B2B34"/>
                </a:solidFill>
              </a:rPr>
              <a:t>명</a:t>
            </a:r>
            <a:r>
              <a:rPr lang="en-US" altLang="ko-KR" sz="1400" b="1">
                <a:solidFill>
                  <a:srgbClr val="1B2B34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개업(신규사업자)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52638</c:v>
                </c:pt>
                <c:pt idx="1">
                  <c:v>56786</c:v>
                </c:pt>
                <c:pt idx="2">
                  <c:v>54437</c:v>
                </c:pt>
                <c:pt idx="3">
                  <c:v>50871</c:v>
                </c:pt>
                <c:pt idx="4">
                  <c:v>49675</c:v>
                </c:pt>
                <c:pt idx="5">
                  <c:v>46027</c:v>
                </c:pt>
                <c:pt idx="6">
                  <c:v>43110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5A-4D1E-828F-B930F90F8B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폐업</c:v>
                </c:pt>
              </c:strCache>
            </c:strRef>
          </c:tx>
          <c:spPr>
            <a:solidFill>
              <a:srgbClr val="E4572E"/>
            </a:solidFill>
            <a:ln>
              <a:solidFill>
                <a:srgbClr val="E4572E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39796</c:v>
                </c:pt>
                <c:pt idx="1">
                  <c:v>36365</c:v>
                </c:pt>
                <c:pt idx="2">
                  <c:v>36182</c:v>
                </c:pt>
                <c:pt idx="3">
                  <c:v>34736</c:v>
                </c:pt>
                <c:pt idx="4">
                  <c:v>40526</c:v>
                </c:pt>
                <c:pt idx="5">
                  <c:v>40910</c:v>
                </c:pt>
                <c:pt idx="6">
                  <c:v>39326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5A-4D1E-828F-B930F90F8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444933728"/>
        <c:axId val="444923328"/>
      </c:barChart>
      <c:catAx>
        <c:axId val="44493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4923328"/>
        <c:crosses val="autoZero"/>
        <c:auto val="1"/>
        <c:lblAlgn val="ctr"/>
        <c:lblOffset val="100"/>
        <c:noMultiLvlLbl val="0"/>
      </c:catAx>
      <c:valAx>
        <c:axId val="44492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4933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F6B73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대구 대형소매점 판매 증감률 </a:t>
            </a:r>
            <a:r>
              <a:rPr lang="en-US" altLang="ko-KR" sz="1400" b="1">
                <a:solidFill>
                  <a:srgbClr val="1B2B34"/>
                </a:solidFill>
              </a:rPr>
              <a:t>(%, </a:t>
            </a:r>
            <a:r>
              <a:rPr lang="ko-KR" altLang="en-US" sz="1400" b="1">
                <a:solidFill>
                  <a:srgbClr val="1B2B34"/>
                </a:solidFill>
              </a:rPr>
              <a:t>전년대비</a:t>
            </a:r>
            <a:r>
              <a:rPr lang="en-US" altLang="ko-KR" sz="1400" b="1">
                <a:solidFill>
                  <a:srgbClr val="1B2B34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대형소매점 판매 증감률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4572E"/>
              </a:solidFill>
              <a:ln>
                <a:solidFill>
                  <a:srgbClr val="0E7C7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A6-48BE-9584-13E3FDA3C769}"/>
              </c:ext>
            </c:extLst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ln>
                <a:solidFill>
                  <a:srgbClr val="0E7C7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7A6-48BE-9584-13E3FDA3C769}"/>
              </c:ext>
            </c:extLst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ln>
                <a:solidFill>
                  <a:srgbClr val="0E7C7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A6-48BE-9584-13E3FDA3C769}"/>
              </c:ext>
            </c:extLst>
          </c:dPt>
          <c:dPt>
            <c:idx val="6"/>
            <c:invertIfNegative val="0"/>
            <c:bubble3D val="0"/>
            <c:spPr>
              <a:solidFill>
                <a:srgbClr val="E4572E"/>
              </a:solidFill>
              <a:ln>
                <a:solidFill>
                  <a:srgbClr val="0E7C7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7A6-48BE-9584-13E3FDA3C76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</c:v>
                </c:pt>
                <c:pt idx="1">
                  <c:v>-7.7</c:v>
                </c:pt>
                <c:pt idx="2">
                  <c:v>10.7</c:v>
                </c:pt>
                <c:pt idx="3">
                  <c:v>0.1</c:v>
                </c:pt>
                <c:pt idx="4">
                  <c:v>-0.6</c:v>
                </c:pt>
                <c:pt idx="5">
                  <c:v>-1.2</c:v>
                </c:pt>
                <c:pt idx="6">
                  <c:v>-2.5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A6-48BE-9584-13E3FDA3C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443898080"/>
        <c:axId val="443896000"/>
      </c:barChart>
      <c:catAx>
        <c:axId val="44389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3896000"/>
        <c:crosses val="autoZero"/>
        <c:auto val="1"/>
        <c:lblAlgn val="ctr"/>
        <c:lblOffset val="100"/>
        <c:noMultiLvlLbl val="0"/>
      </c:catAx>
      <c:valAx>
        <c:axId val="44389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389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400" b="1">
                <a:solidFill>
                  <a:srgbClr val="1B2B34"/>
                </a:solidFill>
              </a:rPr>
              <a:t>대구경북 비제조업 업황</a:t>
            </a:r>
            <a:r>
              <a:rPr lang="en-US" altLang="ko-KR" sz="1400" b="1">
                <a:solidFill>
                  <a:srgbClr val="1B2B34"/>
                </a:solidFill>
              </a:rPr>
              <a:t>BSI (100 </a:t>
            </a:r>
            <a:r>
              <a:rPr lang="ko-KR" altLang="en-US" sz="1400" b="1">
                <a:solidFill>
                  <a:srgbClr val="1B2B34"/>
                </a:solidFill>
              </a:rPr>
              <a:t>미만</a:t>
            </a:r>
            <a:r>
              <a:rPr lang="en-US" altLang="ko-KR" sz="1400" b="1">
                <a:solidFill>
                  <a:srgbClr val="1B2B34"/>
                </a:solidFill>
              </a:rPr>
              <a:t>=</a:t>
            </a:r>
            <a:r>
              <a:rPr lang="ko-KR" altLang="en-US" sz="1400" b="1">
                <a:solidFill>
                  <a:srgbClr val="1B2B34"/>
                </a:solidFill>
              </a:rPr>
              <a:t>부정 우세</a:t>
            </a:r>
            <a:r>
              <a:rPr lang="en-US" altLang="ko-KR" sz="1400" b="1">
                <a:solidFill>
                  <a:srgbClr val="1B2B34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비제조업 업황BSI</c:v>
                </c:pt>
              </c:strCache>
            </c:strRef>
          </c:tx>
          <c:spPr>
            <a:ln w="38100" cap="rnd">
              <a:solidFill>
                <a:srgbClr val="1B2B3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B2B34"/>
              </a:solidFill>
              <a:ln w="38100">
                <a:solidFill>
                  <a:srgbClr val="1B2B34"/>
                </a:solidFill>
                <a:prstDash val="solid"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57.6</c:v>
                </c:pt>
                <c:pt idx="1">
                  <c:v>43.3</c:v>
                </c:pt>
                <c:pt idx="2">
                  <c:v>63.8</c:v>
                </c:pt>
                <c:pt idx="3">
                  <c:v>70.8</c:v>
                </c:pt>
                <c:pt idx="4">
                  <c:v>65.5</c:v>
                </c:pt>
                <c:pt idx="5">
                  <c:v>67.400000000000006</c:v>
                </c:pt>
                <c:pt idx="6">
                  <c:v>57.3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6B-45B2-AD06-D141248CE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3896416"/>
        <c:axId val="443896832"/>
      </c:lineChart>
      <c:catAx>
        <c:axId val="44389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3896832"/>
        <c:crosses val="autoZero"/>
        <c:auto val="1"/>
        <c:lblAlgn val="ctr"/>
        <c:lblOffset val="100"/>
        <c:noMultiLvlLbl val="0"/>
      </c:catAx>
      <c:valAx>
        <c:axId val="44389683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443896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200" b="1">
                <a:solidFill>
                  <a:srgbClr val="1B2B34"/>
                </a:solidFill>
              </a:rPr>
              <a:t>여성 보행자 비율 </a:t>
            </a:r>
            <a:r>
              <a:rPr lang="en-US" altLang="ko-KR" sz="1200" b="1">
                <a:solidFill>
                  <a:srgbClr val="1B2B34"/>
                </a:solidFill>
              </a:rPr>
              <a:t>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여성 보행자 비율(%)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팝업 전</c:v>
                </c:pt>
                <c:pt idx="1">
                  <c:v>팝업 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42.1</c:v>
                </c:pt>
                <c:pt idx="1">
                  <c:v>53.3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F9-4FB1-B66C-3DF95CFF9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579131296"/>
        <c:axId val="579131712"/>
      </c:barChart>
      <c:catAx>
        <c:axId val="57913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79131712"/>
        <c:crosses val="autoZero"/>
        <c:auto val="1"/>
        <c:lblAlgn val="ctr"/>
        <c:lblOffset val="100"/>
        <c:noMultiLvlLbl val="0"/>
      </c:catAx>
      <c:valAx>
        <c:axId val="5791317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7913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200" b="1">
                <a:solidFill>
                  <a:srgbClr val="1B2B34"/>
                </a:solidFill>
              </a:rPr>
              <a:t>차량 평균 속도 </a:t>
            </a:r>
            <a:r>
              <a:rPr lang="en-US" altLang="ko-KR" sz="1200" b="1">
                <a:solidFill>
                  <a:srgbClr val="1B2B34"/>
                </a:solidFill>
              </a:rPr>
              <a:t>(km/h)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차량 평균 속도(km/h)</c:v>
                </c:pt>
              </c:strCache>
            </c:strRef>
          </c:tx>
          <c:spPr>
            <a:solidFill>
              <a:srgbClr val="E4572E"/>
            </a:solidFill>
            <a:ln>
              <a:solidFill>
                <a:srgbClr val="E4572E"/>
              </a:solidFill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rgbClr val="1B2B34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팝업 전</c:v>
                </c:pt>
                <c:pt idx="1">
                  <c:v>팝업 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0-4602-803D-1A7BAC985F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579132960"/>
        <c:axId val="579133376"/>
      </c:barChart>
      <c:catAx>
        <c:axId val="57913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79133376"/>
        <c:crosses val="autoZero"/>
        <c:auto val="1"/>
        <c:lblAlgn val="ctr"/>
        <c:lblOffset val="100"/>
        <c:noMultiLvlLbl val="0"/>
      </c:catAx>
      <c:valAx>
        <c:axId val="5791333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7913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1B2B34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r>
              <a:rPr lang="ko-KR" altLang="en-US" sz="1200" b="1">
                <a:solidFill>
                  <a:srgbClr val="1B2B34"/>
                </a:solidFill>
              </a:rPr>
              <a:t>상권활성화사업 재원 구성 </a:t>
            </a:r>
            <a:r>
              <a:rPr lang="en-US" altLang="ko-KR" sz="1200" b="1">
                <a:solidFill>
                  <a:srgbClr val="1B2B34"/>
                </a:solidFill>
              </a:rPr>
              <a:t>(</a:t>
            </a:r>
            <a:r>
              <a:rPr lang="ko-KR" altLang="en-US" sz="1200" b="1">
                <a:solidFill>
                  <a:srgbClr val="1B2B34"/>
                </a:solidFill>
              </a:rPr>
              <a:t>억 원</a:t>
            </a:r>
            <a:r>
              <a:rPr lang="en-US" altLang="ko-KR" sz="1200" b="1">
                <a:solidFill>
                  <a:srgbClr val="1B2B34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1B2B34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국비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FFFF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동성로상권활성화(2024~28)</c:v>
                </c:pt>
                <c:pt idx="1">
                  <c:v>두류젊코 르네상스(2023~27)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DC-48E5-A3BB-A262127348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시비</c:v>
                </c:pt>
              </c:strCache>
            </c:strRef>
          </c:tx>
          <c:spPr>
            <a:solidFill>
              <a:srgbClr val="B8700A"/>
            </a:solidFill>
            <a:ln>
              <a:solidFill>
                <a:srgbClr val="B8700A"/>
              </a:solidFill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FFFF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동성로상권활성화(2024~28)</c:v>
                </c:pt>
                <c:pt idx="1">
                  <c:v>두류젊코 르네상스(2023~27)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DC-48E5-A3BB-A262127348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구비</c:v>
                </c:pt>
              </c:strCache>
            </c:strRef>
          </c:tx>
          <c:spPr>
            <a:solidFill>
              <a:srgbClr val="6B7780"/>
            </a:solidFill>
            <a:ln>
              <a:solidFill>
                <a:srgbClr val="6B7780"/>
              </a:solidFill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FFFF"/>
                    </a:solidFill>
                    <a:latin typeface="Malgun Gothic" panose="020B0503020000020004" pitchFamily="50" charset="-127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동성로상권활성화(2024~28)</c:v>
                </c:pt>
                <c:pt idx="1">
                  <c:v>두류젊코 르네상스(2023~27)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DC-48E5-A3BB-A26212734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81655360"/>
        <c:axId val="581651200"/>
      </c:barChart>
      <c:catAx>
        <c:axId val="5816553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81651200"/>
        <c:crosses val="autoZero"/>
        <c:auto val="1"/>
        <c:lblAlgn val="ctr"/>
        <c:lblOffset val="100"/>
        <c:noMultiLvlLbl val="0"/>
      </c:catAx>
      <c:valAx>
        <c:axId val="581651200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rgbClr val="DDE5E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F6B73"/>
                </a:solidFill>
                <a:latin typeface="Malgun Gothic" panose="020B0503020000020004" pitchFamily="50" charset="-127"/>
                <a:ea typeface="+mn-ea"/>
                <a:cs typeface="+mn-cs"/>
              </a:defRPr>
            </a:pPr>
            <a:endParaRPr lang="ko-KR"/>
          </a:p>
        </c:txPr>
        <c:crossAx val="581655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F6B73"/>
              </a:solidFill>
              <a:latin typeface="Malgun Gothic" panose="020B0503020000020004" pitchFamily="50" charset="-127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F6B73"/>
          </a:solidFill>
          <a:latin typeface="Malgun Gothic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FD730-979E-4E88-9401-B1881A982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808F00-DFB8-4B1F-85B0-A02A21F1F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4E0F2-45F1-4314-B402-A5ABA225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4CF0F-F109-43DC-BD13-AF122C08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AD4D2-476D-45EC-970C-F3820BC0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85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D7A39-07A4-4B48-8214-9BB66AE9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7ED009-340F-4810-B574-C65C21125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F05F1-46E8-46F5-A1E2-3E248E80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BBF2E-D76C-49D3-812A-745CFC5E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89EC51-24B5-4F1D-B08A-161F7F5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6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C05C3-A3D7-4818-9871-D7F1FAC8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DFF17B-1347-44E7-A5D3-838978592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028CE5-5FB9-4EF4-BB89-BC56E3FA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15273-F64E-4B30-9874-E9C1CED1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8609BE-C555-45D1-A519-D7114702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22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32C9A-6012-47A5-BAA8-78B4D986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D60CC-5ADF-4166-8A58-8E356BE4D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C353E-04F3-4CCA-94B2-831D840F7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5E908C-341B-44B1-BCC9-1F518CB4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7B2DC4-43A1-495A-B9E1-6F9C4C79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50D89-AA38-4117-BAA9-06DD5BB0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51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523E8-90A2-4751-B403-E3747BA9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3EA83-08B1-440C-AD33-7B84A3CF7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934CB-F21C-4D86-8539-A38E9833E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40A473-2447-4AC9-80B8-52422D6D6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76031F-D8D1-41EC-99FB-E7F218B37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655C1F-0974-4C0F-8FB8-03ABCABB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3EF0BD-DFDA-4C24-91C6-B1A75CD6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4B348E-2F34-4B13-937B-F164860D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98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5F809-7757-403C-A0B9-93244BD0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4CF3E7-17BA-4C64-9859-890FD08D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20361C-1193-44E4-9F90-95E293CD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16B0D0-AE12-4FD1-9569-E466E4DC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76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263869-4B28-4F40-AA5A-E5ED728B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65CC1D-C6ED-4E91-99C6-9490A067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4B21DF-DE41-412F-B8A3-E30D7F28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4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52B09-6408-4A24-9BE8-23062F09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BAB095-D84F-46A2-B474-F640854B1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2CDE80-E4C0-4182-9979-B270F5E20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6CB5A-1C4D-4B1D-BC11-23328C9C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DF5308-D76A-4F76-BF1F-24221A39C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7B06C2-C03D-4C4D-AB0C-55FC940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72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F28B3-F4DB-405A-B903-1238D97E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C5EA85-EFA1-479A-9A79-36E12419B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78C36D-E4D3-46FA-98CD-7F1354EB0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F07CF9-AB3A-4FD6-988D-AF23E913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4D34EE-41AF-4D1D-8747-0A3E1E12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1E729-D7F9-420B-8C79-DDB35F97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2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11F70-9934-4499-9613-509E7D18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C8F85F-21F5-4FFD-B8B4-1486B1AD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41951-5489-4827-AF21-31F69E9C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94B376-1B10-4DD7-9565-DB9A1E24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779D0-E383-447F-82A0-9A5B7603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07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D43E3E-9E84-4EF1-BD67-56BE79038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01C4F0-0DE7-4B66-BFB2-D902DBCC5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DE7E7-0294-4EE0-80A8-2F15CCE1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1461D-FDC5-4DC1-A595-79056B66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70C2B5-08ED-4A95-80F8-A84B8B95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23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D0F4ED-722B-49CB-A00C-5A2FA7C2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976B37-666A-40A9-9D16-85E01FB0B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CF764-1A0A-4C67-B9C3-33C835D63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84CF-41D8-48D0-8CD6-4CE7AAB504D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B6CA1-A3FD-4316-813D-199820664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6611F-A236-488A-96EF-D549CCDB0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D0042-221C-45CE-9E80-DB5CE4A47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45951B-C38C-4FCE-BC2A-78641432ADD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6" r="22916"/>
          <a:stretch/>
        </p:blipFill>
        <p:spPr>
          <a:xfrm>
            <a:off x="5588000" y="0"/>
            <a:ext cx="6604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E565EDC-DA41-4CAB-8D5F-929A88B4A28A}"/>
              </a:ext>
            </a:extLst>
          </p:cNvPr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solidFill>
            <a:srgbClr val="1B2B34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28F04-75B3-45F6-A876-1DF8C85F1152}"/>
              </a:ext>
            </a:extLst>
          </p:cNvPr>
          <p:cNvSpPr txBox="1"/>
          <p:nvPr/>
        </p:nvSpPr>
        <p:spPr>
          <a:xfrm>
            <a:off x="609600" y="1905000"/>
            <a:ext cx="482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A541"/>
                </a:solidFill>
                <a:latin typeface="Malgun Gothic" panose="020B0503020000020004" pitchFamily="50" charset="-127"/>
              </a:rPr>
              <a:t>DAEGU VACANCY REPORT</a:t>
            </a:r>
            <a:endParaRPr lang="ko-KR" altLang="en-US" sz="1300" b="1">
              <a:solidFill>
                <a:srgbClr val="F2A54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EEF43-B63E-41BB-BCDA-36240494A64B}"/>
              </a:ext>
            </a:extLst>
          </p:cNvPr>
          <p:cNvSpPr txBox="1"/>
          <p:nvPr/>
        </p:nvSpPr>
        <p:spPr>
          <a:xfrm>
            <a:off x="609600" y="2286000"/>
            <a:ext cx="482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000" b="1">
                <a:solidFill>
                  <a:srgbClr val="FFFFFF"/>
                </a:solidFill>
                <a:latin typeface="Malgun Gothic" panose="020B0503020000020004" pitchFamily="50" charset="-127"/>
              </a:rPr>
              <a:t>대구 상가 공실</a:t>
            </a:r>
            <a:r>
              <a:rPr lang="en-US" altLang="ko-KR" sz="4000" b="1">
                <a:solidFill>
                  <a:srgbClr val="FFFFFF"/>
                </a:solidFill>
                <a:latin typeface="Malgun Gothic" panose="020B0503020000020004" pitchFamily="50" charset="-127"/>
              </a:rPr>
              <a:t>,</a:t>
            </a:r>
            <a:endParaRPr lang="ko-KR" altLang="en-US" sz="4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041C6-4547-472D-858C-9D2325F69E4B}"/>
              </a:ext>
            </a:extLst>
          </p:cNvPr>
          <p:cNvSpPr txBox="1"/>
          <p:nvPr/>
        </p:nvSpPr>
        <p:spPr>
          <a:xfrm>
            <a:off x="609600" y="3022600"/>
            <a:ext cx="4826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얼마나 심각하고 어떻게 활용할 것인가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1E086-B703-4845-8BB0-15186A9C23CB}"/>
              </a:ext>
            </a:extLst>
          </p:cNvPr>
          <p:cNvSpPr txBox="1"/>
          <p:nvPr/>
        </p:nvSpPr>
        <p:spPr>
          <a:xfrm>
            <a:off x="609600" y="4445000"/>
            <a:ext cx="482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C9D6D6"/>
                </a:solidFill>
                <a:latin typeface="Malgun Gothic" panose="020B0503020000020004" pitchFamily="50" charset="-127"/>
              </a:rPr>
              <a:t>공실 현황 </a:t>
            </a:r>
            <a:r>
              <a:rPr lang="en-US" altLang="ko-KR" sz="1400">
                <a:solidFill>
                  <a:srgbClr val="C9D6D6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C9D6D6"/>
                </a:solidFill>
                <a:latin typeface="Malgun Gothic" panose="020B0503020000020004" pitchFamily="50" charset="-127"/>
              </a:rPr>
              <a:t>방치의 문제 </a:t>
            </a:r>
            <a:r>
              <a:rPr lang="en-US" altLang="ko-KR" sz="1400">
                <a:solidFill>
                  <a:srgbClr val="C9D6D6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C9D6D6"/>
                </a:solidFill>
                <a:latin typeface="Malgun Gothic" panose="020B0503020000020004" pitchFamily="50" charset="-127"/>
              </a:rPr>
              <a:t>우수사례 </a:t>
            </a:r>
            <a:r>
              <a:rPr lang="en-US" altLang="ko-KR" sz="1400">
                <a:solidFill>
                  <a:srgbClr val="C9D6D6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C9D6D6"/>
                </a:solidFill>
                <a:latin typeface="Malgun Gothic" panose="020B0503020000020004" pitchFamily="50" charset="-127"/>
              </a:rPr>
              <a:t>대구 적용 방안 </a:t>
            </a:r>
            <a:r>
              <a:rPr lang="en-US" altLang="ko-KR" sz="1400">
                <a:solidFill>
                  <a:srgbClr val="C9D6D6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C9D6D6"/>
                </a:solidFill>
                <a:latin typeface="Malgun Gothic" panose="020B0503020000020004" pitchFamily="50" charset="-127"/>
              </a:rPr>
              <a:t>운영 실태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3FBD3-44DC-4610-B468-D1B0BDF9EA6D}"/>
              </a:ext>
            </a:extLst>
          </p:cNvPr>
          <p:cNvSpPr txBox="1"/>
          <p:nvPr/>
        </p:nvSpPr>
        <p:spPr>
          <a:xfrm>
            <a:off x="609600" y="60960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2026.10.29  | 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통계청 </a:t>
            </a:r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국세청 </a:t>
            </a:r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한국은행 자료 기반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5CA09-D182-44F1-BD1B-9D084A0FD934}"/>
              </a:ext>
            </a:extLst>
          </p:cNvPr>
          <p:cNvSpPr txBox="1"/>
          <p:nvPr/>
        </p:nvSpPr>
        <p:spPr>
          <a:xfrm>
            <a:off x="5842000" y="6451600"/>
            <a:ext cx="609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</a:rPr>
              <a:t>대구 동성로 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</a:rPr>
              <a:t>(Wikimedia Commons, Choi2451, CC BY-SA 4.0)</a:t>
            </a:r>
            <a:endParaRPr lang="ko-KR" altLang="en-US" sz="10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107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C15EE-D0CE-41B2-B20E-53909ED0D0C6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핵심 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8B560-F8DC-4E65-85EF-B8E9498B2B0E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대구 공실은 전국 평균을 웃돌고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계속 오르고 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7B715D4-6F96-4834-83CD-4E1922544CEE}"/>
              </a:ext>
            </a:extLst>
          </p:cNvPr>
          <p:cNvSpPr/>
          <p:nvPr/>
        </p:nvSpPr>
        <p:spPr>
          <a:xfrm>
            <a:off x="508000" y="139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CE787-C5CB-4EAA-957D-FA29E7D3917D}"/>
              </a:ext>
            </a:extLst>
          </p:cNvPr>
          <p:cNvSpPr txBox="1"/>
          <p:nvPr/>
        </p:nvSpPr>
        <p:spPr>
          <a:xfrm>
            <a:off x="711200" y="1549400"/>
            <a:ext cx="2197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Malgun Gothic" panose="020B0503020000020004" pitchFamily="50" charset="-127"/>
              </a:rPr>
              <a:t>18.9%</a:t>
            </a:r>
            <a:endParaRPr lang="ko-KR" altLang="en-US" sz="38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D0805-B3B1-4AB8-B33A-AD7668CEDC04}"/>
              </a:ext>
            </a:extLst>
          </p:cNvPr>
          <p:cNvSpPr txBox="1"/>
          <p:nvPr/>
        </p:nvSpPr>
        <p:spPr>
          <a:xfrm>
            <a:off x="711200" y="2260600"/>
            <a:ext cx="21971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중대형 상가 공실률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(2026Q2)</a:t>
            </a:r>
          </a:p>
          <a:p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전국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14.3% · </a:t>
            </a:r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서울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9.7%</a:t>
            </a:r>
            <a:endParaRPr lang="ko-KR" altLang="en-US" sz="13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6F24616-3600-40AB-A2A6-4DF1BAE27C07}"/>
              </a:ext>
            </a:extLst>
          </p:cNvPr>
          <p:cNvSpPr/>
          <p:nvPr/>
        </p:nvSpPr>
        <p:spPr>
          <a:xfrm>
            <a:off x="3238500" y="139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1B2B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DA692-330E-41CC-A0A9-61F56E139954}"/>
              </a:ext>
            </a:extLst>
          </p:cNvPr>
          <p:cNvSpPr txBox="1"/>
          <p:nvPr/>
        </p:nvSpPr>
        <p:spPr>
          <a:xfrm>
            <a:off x="3441700" y="1549400"/>
            <a:ext cx="2197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Malgun Gothic" panose="020B0503020000020004" pitchFamily="50" charset="-127"/>
              </a:rPr>
              <a:t>3.6</a:t>
            </a:r>
            <a:r>
              <a:rPr lang="ko-KR" altLang="en-US" sz="3800" b="1">
                <a:solidFill>
                  <a:srgbClr val="FFFFFF"/>
                </a:solidFill>
                <a:latin typeface="Malgun Gothic" panose="020B0503020000020004" pitchFamily="50" charset="-127"/>
              </a:rPr>
              <a:t>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4F3A8-E10F-4E68-BC12-603A4E265197}"/>
              </a:ext>
            </a:extLst>
          </p:cNvPr>
          <p:cNvSpPr txBox="1"/>
          <p:nvPr/>
        </p:nvSpPr>
        <p:spPr>
          <a:xfrm>
            <a:off x="3441700" y="2260600"/>
            <a:ext cx="21971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소규모 상가 공실률</a:t>
            </a:r>
          </a:p>
          <a:p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2019Q1 3.0% → 2026Q2 10.8%</a:t>
            </a:r>
            <a:endParaRPr lang="ko-KR" altLang="en-US" sz="13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42AAA2-F808-48B0-879D-1A6139F07F93}"/>
              </a:ext>
            </a:extLst>
          </p:cNvPr>
          <p:cNvSpPr/>
          <p:nvPr/>
        </p:nvSpPr>
        <p:spPr>
          <a:xfrm>
            <a:off x="5969000" y="139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F4EC6-9811-40EE-A593-C4E7CC0BB231}"/>
              </a:ext>
            </a:extLst>
          </p:cNvPr>
          <p:cNvSpPr txBox="1"/>
          <p:nvPr/>
        </p:nvSpPr>
        <p:spPr>
          <a:xfrm>
            <a:off x="6172200" y="1549400"/>
            <a:ext cx="2197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E4572E"/>
                </a:solidFill>
                <a:latin typeface="Malgun Gothic" panose="020B0503020000020004" pitchFamily="50" charset="-127"/>
              </a:rPr>
              <a:t>38.3%</a:t>
            </a:r>
            <a:endParaRPr lang="ko-KR" altLang="en-US" sz="3800" b="1">
              <a:solidFill>
                <a:srgbClr val="E457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029C1-BB40-47BB-8E95-C8F736A3DE92}"/>
              </a:ext>
            </a:extLst>
          </p:cNvPr>
          <p:cNvSpPr txBox="1"/>
          <p:nvPr/>
        </p:nvSpPr>
        <p:spPr>
          <a:xfrm>
            <a:off x="6172200" y="2260600"/>
            <a:ext cx="21971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서문시장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청라언덕 중대형</a:t>
            </a:r>
          </a:p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대구 상권 중 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28D383B-D235-4688-AC29-2A46021CBF5F}"/>
              </a:ext>
            </a:extLst>
          </p:cNvPr>
          <p:cNvSpPr/>
          <p:nvPr/>
        </p:nvSpPr>
        <p:spPr>
          <a:xfrm>
            <a:off x="8699500" y="1397000"/>
            <a:ext cx="2984500" cy="1905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BFCF85-AABF-41C3-8462-0D9EA46E15D8}"/>
              </a:ext>
            </a:extLst>
          </p:cNvPr>
          <p:cNvSpPr txBox="1"/>
          <p:nvPr/>
        </p:nvSpPr>
        <p:spPr>
          <a:xfrm>
            <a:off x="8902700" y="1549400"/>
            <a:ext cx="2578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E4572E"/>
                </a:solidFill>
                <a:latin typeface="Malgun Gothic" panose="020B0503020000020004" pitchFamily="50" charset="-127"/>
              </a:rPr>
              <a:t>91%</a:t>
            </a:r>
            <a:endParaRPr lang="ko-KR" altLang="en-US" sz="3800" b="1">
              <a:solidFill>
                <a:srgbClr val="E457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941EB7-FC52-4609-92DF-E28C0026E401}"/>
              </a:ext>
            </a:extLst>
          </p:cNvPr>
          <p:cNvSpPr txBox="1"/>
          <p:nvPr/>
        </p:nvSpPr>
        <p:spPr>
          <a:xfrm>
            <a:off x="8902700" y="2260600"/>
            <a:ext cx="25781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개업 대비 폐업 비율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(2025)</a:t>
            </a:r>
          </a:p>
          <a:p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2019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76%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에서 상승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771F6A7-CB0E-43CE-9BDB-2F9FEE40DE5F}"/>
              </a:ext>
            </a:extLst>
          </p:cNvPr>
          <p:cNvSpPr/>
          <p:nvPr/>
        </p:nvSpPr>
        <p:spPr>
          <a:xfrm>
            <a:off x="508000" y="36830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76D1E-1677-430D-98AB-DA6580FC6DBA}"/>
              </a:ext>
            </a:extLst>
          </p:cNvPr>
          <p:cNvSpPr txBox="1"/>
          <p:nvPr/>
        </p:nvSpPr>
        <p:spPr>
          <a:xfrm>
            <a:off x="1066800" y="3683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B2B34"/>
                </a:solidFill>
                <a:latin typeface="Malgun Gothic" panose="020B0503020000020004" pitchFamily="50" charset="-127"/>
              </a:rPr>
              <a:t>대구 공실이 얼마나 심한가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FB920ED-7716-4802-8E20-043DBAF435F7}"/>
              </a:ext>
            </a:extLst>
          </p:cNvPr>
          <p:cNvSpPr/>
          <p:nvPr/>
        </p:nvSpPr>
        <p:spPr>
          <a:xfrm>
            <a:off x="508000" y="41910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B3FBB-8D6E-4011-872E-1C29977C0636}"/>
              </a:ext>
            </a:extLst>
          </p:cNvPr>
          <p:cNvSpPr txBox="1"/>
          <p:nvPr/>
        </p:nvSpPr>
        <p:spPr>
          <a:xfrm>
            <a:off x="1066800" y="4191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B2B34"/>
                </a:solidFill>
                <a:latin typeface="Malgun Gothic" panose="020B0503020000020004" pitchFamily="50" charset="-127"/>
              </a:rPr>
              <a:t>공실 방치가 왜 문제인가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407B79D-8049-412E-AE90-21A5B0CD77B8}"/>
              </a:ext>
            </a:extLst>
          </p:cNvPr>
          <p:cNvSpPr/>
          <p:nvPr/>
        </p:nvSpPr>
        <p:spPr>
          <a:xfrm>
            <a:off x="508000" y="46990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6651F8-CC25-4888-AEE7-1F454D168E0C}"/>
              </a:ext>
            </a:extLst>
          </p:cNvPr>
          <p:cNvSpPr txBox="1"/>
          <p:nvPr/>
        </p:nvSpPr>
        <p:spPr>
          <a:xfrm>
            <a:off x="1066800" y="4699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B2B34"/>
                </a:solidFill>
                <a:latin typeface="Malgun Gothic" panose="020B0503020000020004" pitchFamily="50" charset="-127"/>
              </a:rPr>
              <a:t>다른 시 우수사례는 무엇인가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A20270-DF79-4E1A-A479-F9A8AE0CAE53}"/>
              </a:ext>
            </a:extLst>
          </p:cNvPr>
          <p:cNvSpPr/>
          <p:nvPr/>
        </p:nvSpPr>
        <p:spPr>
          <a:xfrm>
            <a:off x="508000" y="52070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61703-52AE-46F0-84F7-DC3ED07C8DCD}"/>
              </a:ext>
            </a:extLst>
          </p:cNvPr>
          <p:cNvSpPr txBox="1"/>
          <p:nvPr/>
        </p:nvSpPr>
        <p:spPr>
          <a:xfrm>
            <a:off x="1066800" y="5207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B2B34"/>
                </a:solidFill>
                <a:latin typeface="Malgun Gothic" panose="020B0503020000020004" pitchFamily="50" charset="-127"/>
              </a:rPr>
              <a:t>대구에 적용 가능한 사례는 무엇인가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DFA88E2-B2AD-4D47-9C4A-C1049D995724}"/>
              </a:ext>
            </a:extLst>
          </p:cNvPr>
          <p:cNvSpPr/>
          <p:nvPr/>
        </p:nvSpPr>
        <p:spPr>
          <a:xfrm>
            <a:off x="508000" y="57150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D07DE-27FD-4D70-ACB1-0B8B012E5CD4}"/>
              </a:ext>
            </a:extLst>
          </p:cNvPr>
          <p:cNvSpPr txBox="1"/>
          <p:nvPr/>
        </p:nvSpPr>
        <p:spPr>
          <a:xfrm>
            <a:off x="1066800" y="5715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B2B34"/>
                </a:solidFill>
                <a:latin typeface="Malgun Gothic" panose="020B0503020000020004" pitchFamily="50" charset="-127"/>
              </a:rPr>
              <a:t>지금 대구에서 공실 활용은 어떻게 운영되고 있는가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E02469-F951-4342-9BEE-2D5F08FE5104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상업용부동산 임대동향조사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국세청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TASIS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85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5D100-6172-4397-918C-756C34C40620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 공실이 얼마나 심한가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24545-D1C6-490B-84FE-DB9F33AB2D27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중대형 상가 공실률은 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7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년째 전국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서울보다 높다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38E0BE1F-22D1-4F9B-AA4F-087113292D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2902857"/>
              </p:ext>
            </p:extLst>
          </p:nvPr>
        </p:nvGraphicFramePr>
        <p:xfrm>
          <a:off x="508000" y="1270000"/>
          <a:ext cx="7874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47D1A71-A818-43C3-A98F-DED0D0A1DDAB}"/>
              </a:ext>
            </a:extLst>
          </p:cNvPr>
          <p:cNvSpPr/>
          <p:nvPr/>
        </p:nvSpPr>
        <p:spPr>
          <a:xfrm>
            <a:off x="8763000" y="13970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B59E4-31F6-4675-9E09-ECC5CACA99AC}"/>
              </a:ext>
            </a:extLst>
          </p:cNvPr>
          <p:cNvSpPr txBox="1"/>
          <p:nvPr/>
        </p:nvSpPr>
        <p:spPr>
          <a:xfrm>
            <a:off x="8966200" y="1549400"/>
            <a:ext cx="2514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Malgun Gothic" panose="020B0503020000020004" pitchFamily="50" charset="-127"/>
              </a:rPr>
              <a:t>+4.8%p</a:t>
            </a:r>
            <a:endParaRPr lang="ko-KR" altLang="en-US" sz="38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ACC1E-C3F9-4CBE-BE6A-4C191EBBED82}"/>
              </a:ext>
            </a:extLst>
          </p:cNvPr>
          <p:cNvSpPr txBox="1"/>
          <p:nvPr/>
        </p:nvSpPr>
        <p:spPr>
          <a:xfrm>
            <a:off x="8966200" y="2260600"/>
            <a:ext cx="25146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대구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2019Q1 14.1% → 2026Q2 18.9%</a:t>
            </a:r>
          </a:p>
          <a:p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전국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+3.0%p, </a:t>
            </a:r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서울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+2.2%p)</a:t>
            </a:r>
            <a:endParaRPr lang="ko-KR" altLang="en-US" sz="13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2F71E9-DA55-4E57-A4F2-8F43794483E3}"/>
              </a:ext>
            </a:extLst>
          </p:cNvPr>
          <p:cNvSpPr/>
          <p:nvPr/>
        </p:nvSpPr>
        <p:spPr>
          <a:xfrm>
            <a:off x="8763000" y="33655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1D393-C0B5-4121-88C4-BCF702C894BD}"/>
              </a:ext>
            </a:extLst>
          </p:cNvPr>
          <p:cNvSpPr txBox="1"/>
          <p:nvPr/>
        </p:nvSpPr>
        <p:spPr>
          <a:xfrm>
            <a:off x="8966200" y="3517900"/>
            <a:ext cx="2514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E4572E"/>
                </a:solidFill>
                <a:latin typeface="Malgun Gothic" panose="020B0503020000020004" pitchFamily="50" charset="-127"/>
              </a:rPr>
              <a:t>+9.2%p</a:t>
            </a:r>
            <a:endParaRPr lang="ko-KR" altLang="en-US" sz="3800" b="1">
              <a:solidFill>
                <a:srgbClr val="E457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EADD06-71D7-4510-BA3F-0652AA211F32}"/>
              </a:ext>
            </a:extLst>
          </p:cNvPr>
          <p:cNvSpPr txBox="1"/>
          <p:nvPr/>
        </p:nvSpPr>
        <p:spPr>
          <a:xfrm>
            <a:off x="8966200" y="4229100"/>
            <a:ext cx="25146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대구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-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서울 격차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(2026Q2)</a:t>
            </a:r>
          </a:p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서울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9.7%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대비 약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82686-19E0-4314-B3FF-292F3AC92AF3}"/>
              </a:ext>
            </a:extLst>
          </p:cNvPr>
          <p:cNvSpPr txBox="1"/>
          <p:nvPr/>
        </p:nvSpPr>
        <p:spPr>
          <a:xfrm>
            <a:off x="8763000" y="5334000"/>
            <a:ext cx="2921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※ 2024Q3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부터 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R-ONE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통계표가 분리되어 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2024Q2→Q3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값이 크게 달라짐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대구 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18.2→15.5).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두 시점을 직접 이은 추세 해석에는 주의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5D3048-9A75-4080-B880-FC7A6C20437E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상업용부동산 임대동향조사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중대형 상가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, 2019Q1~2026Q2)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85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C18E63-60EA-469F-BCD2-326CE82D5F96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 공실이 얼마나 심한가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0E4A8-1146-4DFA-B3C6-952B8326D54F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중대형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소규모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집합 모두 전국과 서울보다 높다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C6F936A0-D95F-421C-A8BB-66DB1C17F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208778"/>
              </p:ext>
            </p:extLst>
          </p:nvPr>
        </p:nvGraphicFramePr>
        <p:xfrm>
          <a:off x="508000" y="1270000"/>
          <a:ext cx="7112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C5AF610-85E4-4DBC-8828-0305D3AD0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7246950"/>
              </p:ext>
            </p:extLst>
          </p:nvPr>
        </p:nvGraphicFramePr>
        <p:xfrm>
          <a:off x="7874000" y="1270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541ECB0-05D8-4A7B-86A2-D1C1F1DF1CF2}"/>
              </a:ext>
            </a:extLst>
          </p:cNvPr>
          <p:cNvSpPr/>
          <p:nvPr/>
        </p:nvSpPr>
        <p:spPr>
          <a:xfrm>
            <a:off x="7874000" y="4699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846D1-FB4F-4B03-9DA8-5CE52B1F67E0}"/>
              </a:ext>
            </a:extLst>
          </p:cNvPr>
          <p:cNvSpPr txBox="1"/>
          <p:nvPr/>
        </p:nvSpPr>
        <p:spPr>
          <a:xfrm>
            <a:off x="8077200" y="4851400"/>
            <a:ext cx="3403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소규모 상가는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2019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년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3.0%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에서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2026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년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10.8%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로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3.6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배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소상공인 점포가 직접 타격을 받고 있다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C9B38-12C7-46F5-9A90-E1DE088B1FD2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 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집합상가 공실률은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2022Q4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부터 제공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05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48BC8-6DF5-4A0D-A6F6-11014E63DAF6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 공실이 얼마나 심한가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A314E-0D7A-4BEA-830F-FBD1B8141408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상권별로는 서문시장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동성로중심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계명대가 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20%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를 넘는다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81F70DD2-594A-49F9-B5B5-16E0321294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672039"/>
              </p:ext>
            </p:extLst>
          </p:nvPr>
        </p:nvGraphicFramePr>
        <p:xfrm>
          <a:off x="508000" y="1206500"/>
          <a:ext cx="711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888F857-B7BC-4925-AA37-37332BAC02D8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" t="1" r="568" b="1"/>
          <a:stretch/>
        </p:blipFill>
        <p:spPr>
          <a:xfrm>
            <a:off x="8001000" y="1270000"/>
            <a:ext cx="3683000" cy="2095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F90077-713F-4FBA-8FEE-5423A69D42C3}"/>
              </a:ext>
            </a:extLst>
          </p:cNvPr>
          <p:cNvSpPr txBox="1"/>
          <p:nvPr/>
        </p:nvSpPr>
        <p:spPr>
          <a:xfrm>
            <a:off x="8001000" y="34036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서문시장 야시장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Choi2451, CC BY-SA 3.0)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361B52-B501-41A1-B80A-82655F129E2A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023" r="-1" b="4023"/>
          <a:stretch/>
        </p:blipFill>
        <p:spPr>
          <a:xfrm>
            <a:off x="8001000" y="3911600"/>
            <a:ext cx="3683000" cy="19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ECAEF3-139D-469B-97FC-73D70C4786DD}"/>
              </a:ext>
            </a:extLst>
          </p:cNvPr>
          <p:cNvSpPr txBox="1"/>
          <p:nvPr/>
        </p:nvSpPr>
        <p:spPr>
          <a:xfrm>
            <a:off x="8001000" y="58547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동성로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Choi2451, CC BY-SA 4.0)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5DE2E-F630-462D-A4BE-F06297870A48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 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붉은색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20%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이상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).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죽전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동성로 등 구분이 바뀐 상권은 제외</a:t>
            </a:r>
          </a:p>
        </p:txBody>
      </p:sp>
    </p:spTree>
    <p:extLst>
      <p:ext uri="{BB962C8B-B14F-4D97-AF65-F5344CB8AC3E}">
        <p14:creationId xmlns:p14="http://schemas.microsoft.com/office/powerpoint/2010/main" val="86935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2F359-3D10-4D71-AD95-4D1844CE8E4D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 공실이 얼마나 심한가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37EF2-F197-42A9-9141-24767490C5B2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동성로 중심상권은 최근 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년 사이 공실이 크게 늘었다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7064F67-3CA3-4820-9549-7385AAB3C6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3075063"/>
              </p:ext>
            </p:extLst>
          </p:nvPr>
        </p:nvGraphicFramePr>
        <p:xfrm>
          <a:off x="508000" y="1270000"/>
          <a:ext cx="6858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23B892F-81A2-461C-AD50-397D9782551E}"/>
              </a:ext>
            </a:extLst>
          </p:cNvPr>
          <p:cNvSpPr/>
          <p:nvPr/>
        </p:nvSpPr>
        <p:spPr>
          <a:xfrm>
            <a:off x="7620000" y="1270000"/>
            <a:ext cx="4064000" cy="4953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C045E-E868-443F-AD3A-E5C42DBE6513}"/>
              </a:ext>
            </a:extLst>
          </p:cNvPr>
          <p:cNvSpPr txBox="1"/>
          <p:nvPr/>
        </p:nvSpPr>
        <p:spPr>
          <a:xfrm>
            <a:off x="7874000" y="14478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0E7C7B"/>
                </a:solidFill>
                <a:latin typeface="Malgun Gothic" panose="020B0503020000020004" pitchFamily="50" charset="-127"/>
              </a:rPr>
              <a:t>현장 </a:t>
            </a:r>
            <a:r>
              <a:rPr lang="en-US" altLang="ko-KR" sz="1400" b="1">
                <a:solidFill>
                  <a:srgbClr val="0E7C7B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0E7C7B"/>
                </a:solidFill>
                <a:latin typeface="Malgun Gothic" panose="020B0503020000020004" pitchFamily="50" charset="-127"/>
              </a:rPr>
              <a:t>언론 보도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C3937-8458-4C2B-862C-3B811AFDC0C0}"/>
              </a:ext>
            </a:extLst>
          </p:cNvPr>
          <p:cNvSpPr txBox="1"/>
          <p:nvPr/>
        </p:nvSpPr>
        <p:spPr>
          <a:xfrm>
            <a:off x="7874000" y="1828800"/>
            <a:ext cx="3606800" cy="426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가게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 중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곳꼴로 임차인을 구하는 중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매일신문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2026.4)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중개업계는 동성로 공실률을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18~20%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로 추정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전성기 평당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500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만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~1,000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만 원이던 임대료가 절반 수준에도 계약이 어려움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권리금을 포기해도 임차인을 못 구하는 사례 증가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경북매일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2026.7)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중심가는 뽑기방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게임장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무인매장으로 채워지고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한 블록만 벗어나면 「임대」 안내문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C25E8-8A9D-4997-8D75-81EEBD1B5D6C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매일신문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(2026.4.13, 2026.7.13),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경북매일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(2026.7.29)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09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9DC9B-A009-42E7-B4F7-E1FDEA44F7DE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공실 방치가 왜 문제인가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D89DB-6EE9-46F6-936D-A574F47B939C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개업은 줄고 폐업은 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만 명 안팎 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빈 점포가 쌓이는 구조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971AB148-48E6-4768-98B5-9925A03411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79022"/>
              </p:ext>
            </p:extLst>
          </p:nvPr>
        </p:nvGraphicFramePr>
        <p:xfrm>
          <a:off x="508000" y="1270000"/>
          <a:ext cx="723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98BAAC1-2D6F-4CF7-B499-323E45EB24DA}"/>
              </a:ext>
            </a:extLst>
          </p:cNvPr>
          <p:cNvSpPr/>
          <p:nvPr/>
        </p:nvSpPr>
        <p:spPr>
          <a:xfrm>
            <a:off x="8001000" y="1270000"/>
            <a:ext cx="3683000" cy="1524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44900-0B8A-45FE-A02F-83ED857EB290}"/>
              </a:ext>
            </a:extLst>
          </p:cNvPr>
          <p:cNvSpPr txBox="1"/>
          <p:nvPr/>
        </p:nvSpPr>
        <p:spPr>
          <a:xfrm>
            <a:off x="8204200" y="1422400"/>
            <a:ext cx="3276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E4572E"/>
                </a:solidFill>
                <a:latin typeface="Malgun Gothic" panose="020B0503020000020004" pitchFamily="50" charset="-127"/>
              </a:rPr>
              <a:t>-18.1%</a:t>
            </a:r>
            <a:endParaRPr lang="ko-KR" altLang="en-US" sz="3800" b="1">
              <a:solidFill>
                <a:srgbClr val="E457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6A659-6B1D-4CAD-ABAA-3DD1F3987ED6}"/>
              </a:ext>
            </a:extLst>
          </p:cNvPr>
          <p:cNvSpPr txBox="1"/>
          <p:nvPr/>
        </p:nvSpPr>
        <p:spPr>
          <a:xfrm>
            <a:off x="8204200" y="2133600"/>
            <a:ext cx="3276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개업 감소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(2019 52,638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명 →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2025 43,110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명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  <a:endParaRPr lang="ko-KR" altLang="en-US" sz="13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020A000-BB9C-41E1-B283-C5A36688010D}"/>
              </a:ext>
            </a:extLst>
          </p:cNvPr>
          <p:cNvSpPr/>
          <p:nvPr/>
        </p:nvSpPr>
        <p:spPr>
          <a:xfrm>
            <a:off x="8001000" y="2946400"/>
            <a:ext cx="3683000" cy="16510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6015C-FD7E-48C9-821E-FAB561061276}"/>
              </a:ext>
            </a:extLst>
          </p:cNvPr>
          <p:cNvSpPr txBox="1"/>
          <p:nvPr/>
        </p:nvSpPr>
        <p:spPr>
          <a:xfrm>
            <a:off x="8204200" y="3098800"/>
            <a:ext cx="3276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Malgun Gothic" panose="020B0503020000020004" pitchFamily="50" charset="-127"/>
              </a:rPr>
              <a:t>91.2%</a:t>
            </a:r>
            <a:endParaRPr lang="ko-KR" altLang="en-US" sz="38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3BD53-B8D3-465D-9632-84E6A8D28F17}"/>
              </a:ext>
            </a:extLst>
          </p:cNvPr>
          <p:cNvSpPr txBox="1"/>
          <p:nvPr/>
        </p:nvSpPr>
        <p:spPr>
          <a:xfrm>
            <a:off x="8204200" y="3810000"/>
            <a:ext cx="3276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개업 대비 폐업 비율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(2025)</a:t>
            </a:r>
          </a:p>
          <a:p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2019</a:t>
            </a:r>
            <a:r>
              <a:rPr lang="ko-KR" altLang="en-US" sz="1300">
                <a:solidFill>
                  <a:srgbClr val="FFFFFF"/>
                </a:solidFill>
                <a:latin typeface="Malgun Gothic" panose="020B0503020000020004" pitchFamily="50" charset="-127"/>
              </a:rPr>
              <a:t>년은 </a:t>
            </a:r>
            <a:r>
              <a:rPr lang="en-US" altLang="ko-KR" sz="1300">
                <a:solidFill>
                  <a:srgbClr val="FFFFFF"/>
                </a:solidFill>
                <a:latin typeface="Malgun Gothic" panose="020B0503020000020004" pitchFamily="50" charset="-127"/>
              </a:rPr>
              <a:t>75.6%</a:t>
            </a:r>
            <a:endParaRPr lang="ko-KR" altLang="en-US" sz="13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DC1D3-9329-4509-A99E-82FE9BF665CA}"/>
              </a:ext>
            </a:extLst>
          </p:cNvPr>
          <p:cNvSpPr txBox="1"/>
          <p:nvPr/>
        </p:nvSpPr>
        <p:spPr>
          <a:xfrm>
            <a:off x="8001000" y="4800600"/>
            <a:ext cx="3683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대구는 개업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폐업 모두 소매업이 매년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위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음식업 폐업 비중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(16.8~19.6%)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이 전국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(14.6~17.6%)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보다 높다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7B745-9C6D-4AAA-8F4D-7E92A1A3AB74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국세청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TASIS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신규사업자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폐업자 현황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귀속연도 기준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, 2026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년 자료 미공표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135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3F4B2-8383-450D-9557-AC17357BCA6F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공실 방치가 왜 문제인가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D8AE2-EA13-4FCF-99D7-1BE3937719C7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공실은 한 점포의 문제가 아니라 상권 전체의 악순환이다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D4228E-8370-4318-AE38-14C953A91870}"/>
              </a:ext>
            </a:extLst>
          </p:cNvPr>
          <p:cNvSpPr/>
          <p:nvPr/>
        </p:nvSpPr>
        <p:spPr>
          <a:xfrm>
            <a:off x="508000" y="1333500"/>
            <a:ext cx="5524500" cy="23876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54D3ABE-CFD0-40F6-8E23-18552D2E81E8}"/>
              </a:ext>
            </a:extLst>
          </p:cNvPr>
          <p:cNvSpPr/>
          <p:nvPr/>
        </p:nvSpPr>
        <p:spPr>
          <a:xfrm>
            <a:off x="736600" y="1562100"/>
            <a:ext cx="508000" cy="508000"/>
          </a:xfrm>
          <a:prstGeom prst="ellipse">
            <a:avLst/>
          </a:prstGeom>
          <a:solidFill>
            <a:srgbClr val="E457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09DAE-149E-49E5-9FF8-C9FFBAFF2B3D}"/>
              </a:ext>
            </a:extLst>
          </p:cNvPr>
          <p:cNvSpPr txBox="1"/>
          <p:nvPr/>
        </p:nvSpPr>
        <p:spPr>
          <a:xfrm>
            <a:off x="1422400" y="1587500"/>
            <a:ext cx="431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B2B34"/>
                </a:solidFill>
                <a:latin typeface="Malgun Gothic" panose="020B0503020000020004" pitchFamily="50" charset="-127"/>
              </a:rPr>
              <a:t>상권 악순환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C5AB7-F5C1-483B-9317-C7490C83331A}"/>
              </a:ext>
            </a:extLst>
          </p:cNvPr>
          <p:cNvSpPr txBox="1"/>
          <p:nvPr/>
        </p:nvSpPr>
        <p:spPr>
          <a:xfrm>
            <a:off x="812800" y="2247900"/>
            <a:ext cx="49530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공실이 늘면 집객력이 떨어지고 인접 점포 매출도 줄어 추가 폐업으로 이어짐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동성로는 중심가가 채워져도 골목은 「임대」 안내문만 이어짐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71BC5FC-0C67-4884-9C7A-F1A93616EF45}"/>
              </a:ext>
            </a:extLst>
          </p:cNvPr>
          <p:cNvSpPr/>
          <p:nvPr/>
        </p:nvSpPr>
        <p:spPr>
          <a:xfrm>
            <a:off x="6159500" y="1333500"/>
            <a:ext cx="5524500" cy="23876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BA26406-AF2A-4132-AAC3-EE7AA0CC73BD}"/>
              </a:ext>
            </a:extLst>
          </p:cNvPr>
          <p:cNvSpPr/>
          <p:nvPr/>
        </p:nvSpPr>
        <p:spPr>
          <a:xfrm>
            <a:off x="6388100" y="1562100"/>
            <a:ext cx="508000" cy="508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8E2FF-7B22-465C-ACD1-B43646C118EA}"/>
              </a:ext>
            </a:extLst>
          </p:cNvPr>
          <p:cNvSpPr txBox="1"/>
          <p:nvPr/>
        </p:nvSpPr>
        <p:spPr>
          <a:xfrm>
            <a:off x="7073900" y="1587500"/>
            <a:ext cx="431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B2B34"/>
                </a:solidFill>
                <a:latin typeface="Malgun Gothic" panose="020B0503020000020004" pitchFamily="50" charset="-127"/>
              </a:rPr>
              <a:t>도시 이미지 악화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1BFC5-E961-40D8-9AEE-BA92F3B182EA}"/>
              </a:ext>
            </a:extLst>
          </p:cNvPr>
          <p:cNvSpPr txBox="1"/>
          <p:nvPr/>
        </p:nvSpPr>
        <p:spPr>
          <a:xfrm>
            <a:off x="6464300" y="2247900"/>
            <a:ext cx="49530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빈 점포가 길게 이어지면 거리가 쇠락해 보여 방문객이 줄어듦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미국 팜스프링스는 이를 막으려 공실 외벽 전시를 시행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7397EA-00FC-4998-8155-DCD317CE43D7}"/>
              </a:ext>
            </a:extLst>
          </p:cNvPr>
          <p:cNvSpPr/>
          <p:nvPr/>
        </p:nvSpPr>
        <p:spPr>
          <a:xfrm>
            <a:off x="508000" y="3873500"/>
            <a:ext cx="5524500" cy="23876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E05D806-7718-4F2D-B7A4-4D84E14A19CA}"/>
              </a:ext>
            </a:extLst>
          </p:cNvPr>
          <p:cNvSpPr/>
          <p:nvPr/>
        </p:nvSpPr>
        <p:spPr>
          <a:xfrm>
            <a:off x="736600" y="4102100"/>
            <a:ext cx="508000" cy="508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19CEEE-0FD3-49DD-A5B3-1583145E131F}"/>
              </a:ext>
            </a:extLst>
          </p:cNvPr>
          <p:cNvSpPr txBox="1"/>
          <p:nvPr/>
        </p:nvSpPr>
        <p:spPr>
          <a:xfrm>
            <a:off x="1422400" y="4127500"/>
            <a:ext cx="431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B2B34"/>
                </a:solidFill>
                <a:latin typeface="Malgun Gothic" panose="020B0503020000020004" pitchFamily="50" charset="-127"/>
              </a:rPr>
              <a:t>구도심 공동화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191508-4BAA-4260-89BF-608C6B71B014}"/>
              </a:ext>
            </a:extLst>
          </p:cNvPr>
          <p:cNvSpPr txBox="1"/>
          <p:nvPr/>
        </p:nvSpPr>
        <p:spPr>
          <a:xfrm>
            <a:off x="812800" y="4787900"/>
            <a:ext cx="49530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대구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경북 쇠퇴지역 분석에서 「쇠퇴 매우 심함」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14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곳 중 대구가 중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서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남구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곳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(37.5%).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노후 상가 재활용이 대안으로 제시됨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DE40DB-A938-43DB-8D97-301DA146FF0C}"/>
              </a:ext>
            </a:extLst>
          </p:cNvPr>
          <p:cNvSpPr/>
          <p:nvPr/>
        </p:nvSpPr>
        <p:spPr>
          <a:xfrm>
            <a:off x="6159500" y="3873500"/>
            <a:ext cx="5524500" cy="23876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8E82A80-E946-4356-A51F-D57ADA54890E}"/>
              </a:ext>
            </a:extLst>
          </p:cNvPr>
          <p:cNvSpPr/>
          <p:nvPr/>
        </p:nvSpPr>
        <p:spPr>
          <a:xfrm>
            <a:off x="6388100" y="4102100"/>
            <a:ext cx="508000" cy="508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BA5A3-87DE-4ADA-964F-63D3BBCBD0CC}"/>
              </a:ext>
            </a:extLst>
          </p:cNvPr>
          <p:cNvSpPr txBox="1"/>
          <p:nvPr/>
        </p:nvSpPr>
        <p:spPr>
          <a:xfrm>
            <a:off x="7073900" y="4127500"/>
            <a:ext cx="431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B2B34"/>
                </a:solidFill>
                <a:latin typeface="Malgun Gothic" panose="020B0503020000020004" pitchFamily="50" charset="-127"/>
              </a:rPr>
              <a:t>구조적 수요 감소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3A7BE-18D2-4C2C-94A6-559D9DB52E75}"/>
              </a:ext>
            </a:extLst>
          </p:cNvPr>
          <p:cNvSpPr txBox="1"/>
          <p:nvPr/>
        </p:nvSpPr>
        <p:spPr>
          <a:xfrm>
            <a:off x="6464300" y="4787900"/>
            <a:ext cx="49530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서울 사례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상업공간 재고는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20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년간 약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60%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늘었지만 오프라인 소매 비중은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94.8%(2005)→78.6%(2019).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공급 과잉이 공실을 키움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BF6694-DCE3-4788-9C51-7D1D24A00146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매일신문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경북매일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서울연구원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(2021·2009),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경북연구원 「대구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경북의 쇠퇴지역 재활성화 전략」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(2016)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63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39493-84BC-4CCB-9634-78DBD65D4B32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공실 방치가 왜 문제인가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8F2FF-E9F9-4AD7-B9C1-B7C83E86CF20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소비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경기 둔화가 공실을 키우는 배경이다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D7481F61-394A-45BC-BB53-814A6DF59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967321"/>
              </p:ext>
            </p:extLst>
          </p:nvPr>
        </p:nvGraphicFramePr>
        <p:xfrm>
          <a:off x="508000" y="1270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AEDEDFD1-D5B8-426D-9498-7DA4279A2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3707373"/>
              </p:ext>
            </p:extLst>
          </p:nvPr>
        </p:nvGraphicFramePr>
        <p:xfrm>
          <a:off x="6223000" y="1270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591435-C79F-4DF7-9D53-E71C2C9ED7A0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한국은행 대구경북본부 지역경제동향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(2025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년 대형소매점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-2.5%,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비제조업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BSI 57.3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으로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2020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년 이후 최저권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088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964625-BC07-4FE1-8FAC-1A20DD710AA3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다른 시 우수사례는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7EABE-545B-48FC-9214-EAD1F86AE393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해외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국내 공실 대응은 크게 세 방식으로 나뉜다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A820940-D3A8-410B-83EB-3FBF88601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11279"/>
              </p:ext>
            </p:extLst>
          </p:nvPr>
        </p:nvGraphicFramePr>
        <p:xfrm>
          <a:off x="508000" y="1270000"/>
          <a:ext cx="11176000" cy="49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16683546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735979081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3895332378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사례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방식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핵심 내용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성과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08256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파리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프랑스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공공 매입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저가 임대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보호 상업가로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259.3km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지정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공기업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SEMAEST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가 빈 상가를 매입해 임대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8,700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만 유로 투입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344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개 점포 개점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(2011)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168266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로테르담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네덜란드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협동조합 매입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용도전환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사회적 상가협동조합이 낙후 상점가를 직접 매입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4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년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1,200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만 유로로 상업지역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20~30%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확보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건물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24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채 확보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5620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바버턴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미국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단기 팝업 실험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버려진 공터를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주일간 팝업 카페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직거래 장터로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여성 보행자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42.1%→53.3%,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차량 속도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27→19km/h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05034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팜스프링스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미국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공실 외벽 예술 전시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빈 상가 외벽에 지역 예술가 작품 설치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비용은 시가 부담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공실의 부정적 인상 완화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6678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아이치현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일본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챌린지숍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상점가 매니저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빈 점포를 창업 시험 점포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집객 거점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고령자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육아 시설로 운영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매니저 배치로 차세대 상인 육성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9515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미야마초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일본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주민 출자 점포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상점이 문을 닫자 주민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106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명이 출자해 운영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배달 서비스까지 제공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연 이용자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21,500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90206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성수동 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서울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컨테이너 청년 창업 공간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언더스탠드 에비뉴 컨테이너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116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. 75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개 팀 거쳐 감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매출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216%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성장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창업 유지율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97% (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언론 보도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207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BF51D9-42EC-4C7C-AAE9-96D192BADD57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서울연구원 세계도시동향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연구보고서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경북연구원 일본 지방창생 사례 연구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성수동은 언론 보도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2569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249B3-0D7A-4AB4-8C49-C54412F61820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다른 시 우수사례는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DC5AE-3E9C-44FC-B2FB-1B111689220B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공공이 빈 상가를 사들여 「필요한 가게」로 채운 유럽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EF4DE4-9376-4FC0-8C01-26FA1C7F41AB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804" r="1" b="15804"/>
          <a:stretch/>
        </p:blipFill>
        <p:spPr>
          <a:xfrm>
            <a:off x="508000" y="1333500"/>
            <a:ext cx="5461000" cy="266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DBF97B-52AB-4E33-8F48-824B7E6F9FB1}"/>
              </a:ext>
            </a:extLst>
          </p:cNvPr>
          <p:cNvSpPr txBox="1"/>
          <p:nvPr/>
        </p:nvSpPr>
        <p:spPr>
          <a:xfrm>
            <a:off x="508000" y="4038600"/>
            <a:ext cx="546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파리 상업가로 예시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- rue des Martyrs 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Wikimedia Commons, CC BY-SA 4.0,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참고 이미지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64980-6570-4D86-B0E4-13816F574097}"/>
              </a:ext>
            </a:extLst>
          </p:cNvPr>
          <p:cNvSpPr txBox="1"/>
          <p:nvPr/>
        </p:nvSpPr>
        <p:spPr>
          <a:xfrm>
            <a:off x="508000" y="4470400"/>
            <a:ext cx="546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E7C7B"/>
                </a:solidFill>
                <a:latin typeface="Malgun Gothic" panose="020B0503020000020004" pitchFamily="50" charset="-127"/>
              </a:rPr>
              <a:t>파리 비탈 카르티에 </a:t>
            </a:r>
            <a:r>
              <a:rPr lang="en-US" altLang="ko-KR" b="1">
                <a:solidFill>
                  <a:srgbClr val="0E7C7B"/>
                </a:solidFill>
                <a:latin typeface="Malgun Gothic" panose="020B0503020000020004" pitchFamily="50" charset="-127"/>
              </a:rPr>
              <a:t>(2004~)</a:t>
            </a:r>
            <a:endParaRPr lang="ko-KR" altLang="en-US" b="1">
              <a:solidFill>
                <a:srgbClr val="0E7C7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49E4C-0BB5-4253-9352-49A0C920F1B7}"/>
              </a:ext>
            </a:extLst>
          </p:cNvPr>
          <p:cNvSpPr txBox="1"/>
          <p:nvPr/>
        </p:nvSpPr>
        <p:spPr>
          <a:xfrm>
            <a:off x="508000" y="4851400"/>
            <a:ext cx="546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259.3km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상점 보호 거리 지정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1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층 소매공간 용도변경 금지</a:t>
            </a:r>
          </a:p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공기업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SEMAEST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가 빈 상가 우선 매입 후 서점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식료품점에 저가 임대</a:t>
            </a:r>
          </a:p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8,700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만 유로 투입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2011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년까지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344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 점포 개점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B90460-6161-4E6F-86AB-7D0FD0CF7A27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42" b="17442"/>
          <a:stretch/>
        </p:blipFill>
        <p:spPr>
          <a:xfrm>
            <a:off x="6223000" y="1333500"/>
            <a:ext cx="5461000" cy="266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8BC2C9-5C88-411A-A490-D38393E14F66}"/>
              </a:ext>
            </a:extLst>
          </p:cNvPr>
          <p:cNvSpPr txBox="1"/>
          <p:nvPr/>
        </p:nvSpPr>
        <p:spPr>
          <a:xfrm>
            <a:off x="6223000" y="4038600"/>
            <a:ext cx="546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로테르담 상점가 예시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- 1e Pijnackerstraat 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Wikimedia Commons, CC BY-SA 2.0,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참고 이미지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E510A-0124-4377-86A6-A0FAD5820003}"/>
              </a:ext>
            </a:extLst>
          </p:cNvPr>
          <p:cNvSpPr txBox="1"/>
          <p:nvPr/>
        </p:nvSpPr>
        <p:spPr>
          <a:xfrm>
            <a:off x="6223000" y="4470400"/>
            <a:ext cx="546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E7C7B"/>
                </a:solidFill>
                <a:latin typeface="Malgun Gothic" panose="020B0503020000020004" pitchFamily="50" charset="-127"/>
              </a:rPr>
              <a:t>로테르담 「손에 손잡고」 </a:t>
            </a:r>
            <a:r>
              <a:rPr lang="en-US" altLang="ko-KR" b="1">
                <a:solidFill>
                  <a:srgbClr val="0E7C7B"/>
                </a:solidFill>
                <a:latin typeface="Malgun Gothic" panose="020B0503020000020004" pitchFamily="50" charset="-127"/>
              </a:rPr>
              <a:t>(2019~)</a:t>
            </a:r>
            <a:endParaRPr lang="ko-KR" altLang="en-US" b="1">
              <a:solidFill>
                <a:srgbClr val="0E7C7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2312A-A759-41AB-8BBE-F28378C6FE26}"/>
              </a:ext>
            </a:extLst>
          </p:cNvPr>
          <p:cNvSpPr txBox="1"/>
          <p:nvPr/>
        </p:nvSpPr>
        <p:spPr>
          <a:xfrm>
            <a:off x="6223000" y="4851400"/>
            <a:ext cx="546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민관 연합과 사회적 상가협동조합이 낙후 상점가 부동산을 직접 매입</a:t>
            </a:r>
          </a:p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1,200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만 유로로 상업지역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20~30%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확보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건물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24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채 확보</a:t>
            </a:r>
          </a:p>
          <a:p>
            <a:pPr marL="152400" indent="-152400">
              <a:spcAft>
                <a:spcPts val="4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상가는 일부 코너에 집중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나머지는 주거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치과 등 생활시설로 전환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7638A-33F8-4B70-BE27-E88AFEA3B672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서울연구원 「해외 젠트리피케이션 대응 사례와 시사점」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(2016),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세계도시동향 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461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(2019)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D3CA5-B14B-4B27-B485-67817CFA4FB5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다른 시 우수사례는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BFAAC-E6D4-46B1-B826-123984238F6D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비용을 거의 들이지 않는 임시활용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팝업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으로 거리가 바뀐다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615C097-266C-4F39-93E8-F58F4A808F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032652"/>
              </p:ext>
            </p:extLst>
          </p:nvPr>
        </p:nvGraphicFramePr>
        <p:xfrm>
          <a:off x="508000" y="1270000"/>
          <a:ext cx="27305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9CBA781-995C-4409-90E6-3184B312C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76487"/>
              </p:ext>
            </p:extLst>
          </p:nvPr>
        </p:nvGraphicFramePr>
        <p:xfrm>
          <a:off x="3365500" y="1270000"/>
          <a:ext cx="27305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5F8D312-BFFF-4C4E-94DF-ED45FD64851C}"/>
              </a:ext>
            </a:extLst>
          </p:cNvPr>
          <p:cNvSpPr/>
          <p:nvPr/>
        </p:nvSpPr>
        <p:spPr>
          <a:xfrm>
            <a:off x="508000" y="4635500"/>
            <a:ext cx="5588000" cy="1524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D3046-60B7-40A6-A47E-0833667BF777}"/>
              </a:ext>
            </a:extLst>
          </p:cNvPr>
          <p:cNvSpPr txBox="1"/>
          <p:nvPr/>
        </p:nvSpPr>
        <p:spPr>
          <a:xfrm>
            <a:off x="711200" y="4800600"/>
            <a:ext cx="5207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미국 바버턴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: 7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월 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주일간 버려진 공터를 팝업 카페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야외 식당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직거래 장터로 활용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. 3D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프린터로 만든 조립식 합판 「위키블록」으로 싸게 설치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해체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상가 매출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관광객이 늘고 이를 바탕으로 장기 계획 수립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EA4CB45-A64E-4B59-BDA5-F979CF334BA0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8" b="18738"/>
          <a:stretch/>
        </p:blipFill>
        <p:spPr>
          <a:xfrm>
            <a:off x="6350000" y="1270000"/>
            <a:ext cx="5334000" cy="222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624E87-EA9E-408F-9CDD-1564E6AB6204}"/>
              </a:ext>
            </a:extLst>
          </p:cNvPr>
          <p:cNvSpPr txBox="1"/>
          <p:nvPr/>
        </p:nvSpPr>
        <p:spPr>
          <a:xfrm>
            <a:off x="6350000" y="3530600"/>
            <a:ext cx="5334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팜스프링스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Palm Canyon Drive 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Visitor7, CC BY-SA 3.0,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참고 이미지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BF56-C688-4419-8CD8-6C5016044207}"/>
              </a:ext>
            </a:extLst>
          </p:cNvPr>
          <p:cNvSpPr txBox="1"/>
          <p:nvPr/>
        </p:nvSpPr>
        <p:spPr>
          <a:xfrm>
            <a:off x="6350000" y="39116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팜스프링스</a:t>
            </a:r>
            <a:r>
              <a:rPr lang="en-US" altLang="ko-KR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빈 상가 외벽에 그림</a:t>
            </a:r>
            <a:r>
              <a:rPr lang="en-US" altLang="ko-KR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포스터</a:t>
            </a:r>
            <a:r>
              <a:rPr lang="en-US" altLang="ko-KR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조각 설치</a:t>
            </a:r>
            <a:r>
              <a:rPr lang="en-US" altLang="ko-KR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1B2B34"/>
                </a:solidFill>
                <a:latin typeface="Malgun Gothic" panose="020B0503020000020004" pitchFamily="50" charset="-127"/>
              </a:rPr>
              <a:t>비용은 시가 부담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06CDD0-D6AA-4FA8-9F12-77CE0B58412A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63" b="28563"/>
          <a:stretch/>
        </p:blipFill>
        <p:spPr>
          <a:xfrm>
            <a:off x="6350000" y="4546600"/>
            <a:ext cx="5334000" cy="1524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8DBF84-9D0E-497A-8E03-E0F89B438930}"/>
              </a:ext>
            </a:extLst>
          </p:cNvPr>
          <p:cNvSpPr txBox="1"/>
          <p:nvPr/>
        </p:nvSpPr>
        <p:spPr>
          <a:xfrm>
            <a:off x="6350000" y="6096000"/>
            <a:ext cx="5334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참고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런던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Boxpark Shoreditch,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컨테이너 팝업 상업시설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Fred Romero, CC BY 2.0)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694316-36DE-4945-BB45-BD76FCA29645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서울연구원 세계도시동향 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416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(2017),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226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(2009)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98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8DA3D-7335-47CF-AE29-38B1DA452B1A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다른 시 우수사례는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80DA7-0DB7-4D7F-AE84-C30E3BE5F04B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빈 점포를 청년 창업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주민 공동체의 거점으로 바꾼 사례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041056C-FB67-40DF-88F2-8397BDD963F0}"/>
              </a:ext>
            </a:extLst>
          </p:cNvPr>
          <p:cNvSpPr/>
          <p:nvPr/>
        </p:nvSpPr>
        <p:spPr>
          <a:xfrm>
            <a:off x="508000" y="1270000"/>
            <a:ext cx="7112000" cy="23495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477AE-A6F1-4084-9A2A-052E2015FD1D}"/>
              </a:ext>
            </a:extLst>
          </p:cNvPr>
          <p:cNvSpPr txBox="1"/>
          <p:nvPr/>
        </p:nvSpPr>
        <p:spPr>
          <a:xfrm>
            <a:off x="787400" y="1447800"/>
            <a:ext cx="6604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0E7C7B"/>
                </a:solidFill>
                <a:latin typeface="Malgun Gothic" panose="020B0503020000020004" pitchFamily="50" charset="-127"/>
              </a:rPr>
              <a:t>일본 아이치현 「챌린지 숍」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0D3D3-BB09-45C6-8702-31BFA8EA3C52}"/>
              </a:ext>
            </a:extLst>
          </p:cNvPr>
          <p:cNvSpPr txBox="1"/>
          <p:nvPr/>
        </p:nvSpPr>
        <p:spPr>
          <a:xfrm>
            <a:off x="787400" y="1905000"/>
            <a:ext cx="6604000" cy="158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빈 점포를 창업 시험 점포로 운영해 차세대 상인 육성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빈 점포를 집객 거점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고령자 커뮤니티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육아지원 시설로 활용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상점가에 매니저를 배치해 이벤트</a:t>
            </a:r>
            <a:r>
              <a:rPr lang="en-US" altLang="ko-KR" sz="15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B2B34"/>
                </a:solidFill>
                <a:latin typeface="Malgun Gothic" panose="020B0503020000020004" pitchFamily="50" charset="-127"/>
              </a:rPr>
              <a:t>빈 점포 대책을 전담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75A8EE7-2DE4-4188-A172-C26C9594246C}"/>
              </a:ext>
            </a:extLst>
          </p:cNvPr>
          <p:cNvSpPr/>
          <p:nvPr/>
        </p:nvSpPr>
        <p:spPr>
          <a:xfrm>
            <a:off x="508000" y="3810000"/>
            <a:ext cx="7112000" cy="2413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E77B7-40A1-480D-8D1B-8155104F7245}"/>
              </a:ext>
            </a:extLst>
          </p:cNvPr>
          <p:cNvSpPr txBox="1"/>
          <p:nvPr/>
        </p:nvSpPr>
        <p:spPr>
          <a:xfrm>
            <a:off x="787400" y="3987800"/>
            <a:ext cx="6604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0E7C7B"/>
                </a:solidFill>
                <a:latin typeface="Malgun Gothic" panose="020B0503020000020004" pitchFamily="50" charset="-127"/>
              </a:rPr>
              <a:t>일본 교토 미야마초 주민 출자 점포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41CA8-9016-480D-82AD-13A170F99480}"/>
              </a:ext>
            </a:extLst>
          </p:cNvPr>
          <p:cNvSpPr txBox="1"/>
          <p:nvPr/>
        </p:nvSpPr>
        <p:spPr>
          <a:xfrm>
            <a:off x="787400" y="4445000"/>
            <a:ext cx="190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600" b="1">
                <a:solidFill>
                  <a:srgbClr val="E4572E"/>
                </a:solidFill>
                <a:latin typeface="Malgun Gothic" panose="020B0503020000020004" pitchFamily="50" charset="-127"/>
              </a:rPr>
              <a:t>106</a:t>
            </a:r>
            <a:r>
              <a:rPr lang="ko-KR" altLang="en-US" sz="3600" b="1">
                <a:solidFill>
                  <a:srgbClr val="E4572E"/>
                </a:solidFill>
                <a:latin typeface="Malgun Gothic" panose="020B0503020000020004" pitchFamily="50" charset="-127"/>
              </a:rPr>
              <a:t>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AD710-4FC1-4DBE-9991-CEF3D225ED36}"/>
              </a:ext>
            </a:extLst>
          </p:cNvPr>
          <p:cNvSpPr txBox="1"/>
          <p:nvPr/>
        </p:nvSpPr>
        <p:spPr>
          <a:xfrm>
            <a:off x="787400" y="51054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5F6B73"/>
                </a:solidFill>
                <a:latin typeface="Malgun Gothic" panose="020B0503020000020004" pitchFamily="50" charset="-127"/>
              </a:rPr>
              <a:t>출자한 주민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669C-6CB2-42F1-B844-F8647E759EED}"/>
              </a:ext>
            </a:extLst>
          </p:cNvPr>
          <p:cNvSpPr txBox="1"/>
          <p:nvPr/>
        </p:nvSpPr>
        <p:spPr>
          <a:xfrm>
            <a:off x="2921000" y="44450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600" b="1">
                <a:solidFill>
                  <a:srgbClr val="E4572E"/>
                </a:solidFill>
                <a:latin typeface="Malgun Gothic" panose="020B0503020000020004" pitchFamily="50" charset="-127"/>
              </a:rPr>
              <a:t>21,500</a:t>
            </a:r>
            <a:r>
              <a:rPr lang="ko-KR" altLang="en-US" sz="3600" b="1">
                <a:solidFill>
                  <a:srgbClr val="E4572E"/>
                </a:solidFill>
                <a:latin typeface="Malgun Gothic" panose="020B0503020000020004" pitchFamily="50" charset="-127"/>
              </a:rPr>
              <a:t>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AD40C-5C3A-4414-BC32-EFCC093FC0B6}"/>
              </a:ext>
            </a:extLst>
          </p:cNvPr>
          <p:cNvSpPr txBox="1"/>
          <p:nvPr/>
        </p:nvSpPr>
        <p:spPr>
          <a:xfrm>
            <a:off x="2921000" y="51054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5F6B73"/>
                </a:solidFill>
                <a:latin typeface="Malgun Gothic" panose="020B0503020000020004" pitchFamily="50" charset="-127"/>
              </a:rPr>
              <a:t>연 이용자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A6AF8-9D41-4375-8F6C-43BCE1A497B6}"/>
              </a:ext>
            </a:extLst>
          </p:cNvPr>
          <p:cNvSpPr txBox="1"/>
          <p:nvPr/>
        </p:nvSpPr>
        <p:spPr>
          <a:xfrm>
            <a:off x="787400" y="5461000"/>
            <a:ext cx="66040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상점이 문을 닫자 주민이 직접 자금을 모아 점포를 운영하고 배달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이송 서비스까지 제공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주민이 자금과 운영을 맡을수록 성공률이 높다고 정리됨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6E0B60-28DE-41D7-9517-DFD33E5908A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1" b="10001"/>
          <a:stretch/>
        </p:blipFill>
        <p:spPr>
          <a:xfrm>
            <a:off x="7874000" y="1270000"/>
            <a:ext cx="3810000" cy="228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3E3BA0-B823-455C-A5AE-ED786DF146BC}"/>
              </a:ext>
            </a:extLst>
          </p:cNvPr>
          <p:cNvSpPr txBox="1"/>
          <p:nvPr/>
        </p:nvSpPr>
        <p:spPr>
          <a:xfrm>
            <a:off x="7874000" y="3594100"/>
            <a:ext cx="381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성수동 카페 거리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사진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CartoonChess, CC BY-SA 4.0,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참고 이미지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61589-5675-4C81-A5EE-73806B045FA7}"/>
              </a:ext>
            </a:extLst>
          </p:cNvPr>
          <p:cNvSpPr txBox="1"/>
          <p:nvPr/>
        </p:nvSpPr>
        <p:spPr>
          <a:xfrm>
            <a:off x="7874000" y="4038600"/>
            <a:ext cx="381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E7C7B"/>
                </a:solidFill>
                <a:latin typeface="Malgun Gothic" panose="020B0503020000020004" pitchFamily="50" charset="-127"/>
              </a:rPr>
              <a:t>서울 성수동 언더스탠드 에비뉴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F71AD-97B7-4A90-8779-B6F83E296822}"/>
              </a:ext>
            </a:extLst>
          </p:cNvPr>
          <p:cNvSpPr txBox="1"/>
          <p:nvPr/>
        </p:nvSpPr>
        <p:spPr>
          <a:xfrm>
            <a:off x="7874000" y="44450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200" b="1">
                <a:solidFill>
                  <a:srgbClr val="E4572E"/>
                </a:solidFill>
                <a:latin typeface="Malgun Gothic" panose="020B0503020000020004" pitchFamily="50" charset="-127"/>
              </a:rPr>
              <a:t>75</a:t>
            </a:r>
            <a:r>
              <a:rPr lang="ko-KR" altLang="en-US" sz="3200" b="1">
                <a:solidFill>
                  <a:srgbClr val="E4572E"/>
                </a:solidFill>
                <a:latin typeface="Malgun Gothic" panose="020B0503020000020004" pitchFamily="50" charset="-127"/>
              </a:rPr>
              <a:t>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CE767-230D-4C14-8E6F-830E3D3929CC}"/>
              </a:ext>
            </a:extLst>
          </p:cNvPr>
          <p:cNvSpPr txBox="1"/>
          <p:nvPr/>
        </p:nvSpPr>
        <p:spPr>
          <a:xfrm>
            <a:off x="9779000" y="4445000"/>
            <a:ext cx="190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400" b="1">
                <a:solidFill>
                  <a:srgbClr val="E4572E"/>
                </a:solidFill>
                <a:latin typeface="Malgun Gothic" panose="020B0503020000020004" pitchFamily="50" charset="-127"/>
              </a:rPr>
              <a:t>매출 </a:t>
            </a:r>
            <a:r>
              <a:rPr lang="en-US" altLang="ko-KR" sz="2400" b="1">
                <a:solidFill>
                  <a:srgbClr val="E4572E"/>
                </a:solidFill>
                <a:latin typeface="Malgun Gothic" panose="020B0503020000020004" pitchFamily="50" charset="-127"/>
              </a:rPr>
              <a:t>+216%</a:t>
            </a:r>
            <a:endParaRPr lang="ko-KR" altLang="en-US" sz="2400" b="1">
              <a:solidFill>
                <a:srgbClr val="E457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8C0B0-ABD5-4C56-A787-4A206EE3E94D}"/>
              </a:ext>
            </a:extLst>
          </p:cNvPr>
          <p:cNvSpPr txBox="1"/>
          <p:nvPr/>
        </p:nvSpPr>
        <p:spPr>
          <a:xfrm>
            <a:off x="7874000" y="5080000"/>
            <a:ext cx="381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컨테이너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116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 청년 창업 공간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창업 유지 비율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97% (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언론 보도 기준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  <a:endParaRPr lang="ko-KR" altLang="en-US" sz="13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3F9170-4BAE-488D-81FC-A0EB04F2D174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서울연구원 세계도시동향 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387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(2016),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경북연구원 일본의 지방창생 사례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(2017),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언론 보도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성수동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919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D17AD4-08AD-4971-B901-A70EB98BEDD8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대구에 적용 가능한 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61618-49B3-4677-9E88-0BE7DBF4B7CE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우수사례마다 대구에서 쓸 수 있는 법적 근거와 대상지가 있다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A9159F-1C82-4547-8CAC-329DB60DA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4884"/>
              </p:ext>
            </p:extLst>
          </p:nvPr>
        </p:nvGraphicFramePr>
        <p:xfrm>
          <a:off x="508000" y="1270000"/>
          <a:ext cx="1117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869622253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99037939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18461746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우수사례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대구 적용안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근거 조례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대상 후보</a:t>
                      </a:r>
                    </a:p>
                  </a:txBody>
                  <a:tcPr marL="101600" marR="101600" marT="63500" marB="63500" anchor="ctr"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03855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파리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로테르담 공공 매입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임대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도시재생지원센터가 빈 점포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상가를 신탁받아 저가 임대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도시재생 활성화 및 지원 조례 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8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조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4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호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서문시장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청라언덕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공실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38.3%)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6702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바버턴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팜스프링스 임시활용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빈 점포 팝업스토어 확대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공실 외벽 전시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골목 팝업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동성로 상권활성화사업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(2025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팝업 시행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 /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동성로중심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(25.8%)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110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아이치 챌린지숍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성수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청년 창업 시험 점포로 전환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창업 컨설팅 결합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청년 창업 지원 조례 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5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조 창업 공간 지원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계명대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(23.3%),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경북대북문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(19.3%)</a:t>
                      </a:r>
                      <a:endParaRPr lang="ko-KR" altLang="en-US" sz="1300" b="0">
                        <a:solidFill>
                          <a:srgbClr val="1B2B34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3697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미야마초 주민 출자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상인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주민 공동체가 출자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운영하는 골목 점포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골목상권 공동체 조례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상인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30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명 이상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),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마을관리협동조합 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월배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안지랑</a:t>
                      </a:r>
                    </a:p>
                  </a:txBody>
                  <a:tcPr marL="101600" marR="101600" marT="63500" marB="63500"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1977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파리</a:t>
                      </a:r>
                      <a:r>
                        <a:rPr lang="en-US" altLang="ko-KR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300" b="1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런던 젠트리 대응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공실 해소 후 임대료 급등 방지 상생협약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임대차 분쟁 조정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지역상권 상생 조례 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4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조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소상공인 조례 제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6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조</a:t>
                      </a:r>
                      <a:r>
                        <a:rPr lang="en-US" altLang="ko-KR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6</a:t>
                      </a:r>
                      <a:r>
                        <a:rPr lang="ko-KR" altLang="en-US" sz="1300" b="0">
                          <a:solidFill>
                            <a:srgbClr val="1B2B34"/>
                          </a:solidFill>
                          <a:latin typeface="Malgun Gothic" panose="020B0503020000020004" pitchFamily="50" charset="-127"/>
                        </a:rPr>
                        <a:t>호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5844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4B2AF9-0D74-42D6-AC0B-14446BF966BA}"/>
              </a:ext>
            </a:extLst>
          </p:cNvPr>
          <p:cNvSpPr txBox="1"/>
          <p:nvPr/>
        </p:nvSpPr>
        <p:spPr>
          <a:xfrm>
            <a:off x="508000" y="5969000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※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공실률은 한국부동산원 중대형 상가 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2026Q2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기준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조례 내용은 국가법령정보센터 확인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(2026.10.29), 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구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F6B73"/>
                </a:solidFill>
                <a:latin typeface="Malgun Gothic" panose="020B0503020000020004" pitchFamily="50" charset="-127"/>
              </a:rPr>
              <a:t>군 조례는 원문 시행일 확인 필요</a:t>
            </a:r>
            <a:r>
              <a:rPr lang="en-US" altLang="ko-KR" sz="1100">
                <a:solidFill>
                  <a:srgbClr val="5F6B73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DEB77-6AC3-4D1A-9C66-1004B57DD9D2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대구 적용 가능한 법과 계획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국가법령정보센터 자치법규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R-ONE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982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06012-46F0-4313-BCB9-A90C1C4D9FCA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대구에 적용 가능한 사례는 무엇인가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02A27-DEC9-478F-92BB-56CCAEEAC94B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단계별 도입 제안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임시활용에서 공공 매입까지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E0CEE43-B94D-4F23-A3FA-495D4AD6C146}"/>
              </a:ext>
            </a:extLst>
          </p:cNvPr>
          <p:cNvSpPr/>
          <p:nvPr/>
        </p:nvSpPr>
        <p:spPr>
          <a:xfrm>
            <a:off x="508000" y="1333500"/>
            <a:ext cx="3556000" cy="88900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A2D3C-B21B-4A87-BCB1-227A59E79FD0}"/>
              </a:ext>
            </a:extLst>
          </p:cNvPr>
          <p:cNvSpPr txBox="1"/>
          <p:nvPr/>
        </p:nvSpPr>
        <p:spPr>
          <a:xfrm>
            <a:off x="736600" y="1447800"/>
            <a:ext cx="309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단기 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년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)</a:t>
            </a:r>
            <a:endParaRPr lang="ko-KR" altLang="en-US" sz="1300" b="1">
              <a:solidFill>
                <a:srgbClr val="CDE5E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01122-275E-4677-A2BE-4293530A5A65}"/>
              </a:ext>
            </a:extLst>
          </p:cNvPr>
          <p:cNvSpPr txBox="1"/>
          <p:nvPr/>
        </p:nvSpPr>
        <p:spPr>
          <a:xfrm>
            <a:off x="736600" y="1727200"/>
            <a:ext cx="309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임시활용</a:t>
            </a:r>
            <a:r>
              <a:rPr lang="en-US" altLang="ko-KR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실태조사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A9C793-5234-49E8-8777-1ED578D6D0BA}"/>
              </a:ext>
            </a:extLst>
          </p:cNvPr>
          <p:cNvSpPr/>
          <p:nvPr/>
        </p:nvSpPr>
        <p:spPr>
          <a:xfrm>
            <a:off x="508000" y="23495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6F9CD-0398-4A1C-B261-601E6D8B59EA}"/>
              </a:ext>
            </a:extLst>
          </p:cNvPr>
          <p:cNvSpPr txBox="1"/>
          <p:nvPr/>
        </p:nvSpPr>
        <p:spPr>
          <a:xfrm>
            <a:off x="736600" y="2540000"/>
            <a:ext cx="3098800" cy="260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공실 점포 전수조사와 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구축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동성로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서문시장 골목 팝업스토어 상시화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공실 외벽 전시 등 거리 이미지 개선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30B6DD-A593-49C5-88DF-70B0C8CB67A9}"/>
              </a:ext>
            </a:extLst>
          </p:cNvPr>
          <p:cNvSpPr/>
          <p:nvPr/>
        </p:nvSpPr>
        <p:spPr>
          <a:xfrm>
            <a:off x="4318000" y="1333500"/>
            <a:ext cx="3556000" cy="889000"/>
          </a:xfrm>
          <a:prstGeom prst="roundRect">
            <a:avLst>
              <a:gd name="adj" fmla="val 6000"/>
            </a:avLst>
          </a:prstGeom>
          <a:solidFill>
            <a:srgbClr val="0A5C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D0E93-E9AA-4022-B213-0048017CCD3E}"/>
              </a:ext>
            </a:extLst>
          </p:cNvPr>
          <p:cNvSpPr txBox="1"/>
          <p:nvPr/>
        </p:nvSpPr>
        <p:spPr>
          <a:xfrm>
            <a:off x="4546600" y="1447800"/>
            <a:ext cx="309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중기 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(2~3</a:t>
            </a:r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년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)</a:t>
            </a:r>
            <a:endParaRPr lang="ko-KR" altLang="en-US" sz="1300" b="1">
              <a:solidFill>
                <a:srgbClr val="CDE5E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50FFE-2623-4DB2-8739-E6F002A166BE}"/>
              </a:ext>
            </a:extLst>
          </p:cNvPr>
          <p:cNvSpPr txBox="1"/>
          <p:nvPr/>
        </p:nvSpPr>
        <p:spPr>
          <a:xfrm>
            <a:off x="4546600" y="1727200"/>
            <a:ext cx="309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창업</a:t>
            </a:r>
            <a:r>
              <a:rPr lang="en-US" altLang="ko-KR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공동체 거점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F11B7D9-71AA-41FE-9587-093A447BB489}"/>
              </a:ext>
            </a:extLst>
          </p:cNvPr>
          <p:cNvSpPr/>
          <p:nvPr/>
        </p:nvSpPr>
        <p:spPr>
          <a:xfrm>
            <a:off x="4318000" y="23495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E00CE-9DFE-42BB-A5E0-044040A0D15C}"/>
              </a:ext>
            </a:extLst>
          </p:cNvPr>
          <p:cNvSpPr txBox="1"/>
          <p:nvPr/>
        </p:nvSpPr>
        <p:spPr>
          <a:xfrm>
            <a:off x="4546600" y="2540000"/>
            <a:ext cx="3098800" cy="260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챌린지숍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창업 시험 점포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운영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골목상권 공동체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주민 출자 점포 지원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상가 신탁 시범사업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B44150A-552C-44A5-8168-9A10254DEC4E}"/>
              </a:ext>
            </a:extLst>
          </p:cNvPr>
          <p:cNvSpPr/>
          <p:nvPr/>
        </p:nvSpPr>
        <p:spPr>
          <a:xfrm>
            <a:off x="8128000" y="1333500"/>
            <a:ext cx="3556000" cy="889000"/>
          </a:xfrm>
          <a:prstGeom prst="roundRect">
            <a:avLst>
              <a:gd name="adj" fmla="val 6000"/>
            </a:avLst>
          </a:prstGeom>
          <a:solidFill>
            <a:srgbClr val="1B2B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FCDB0-BE7E-4F6E-A92D-15333139772D}"/>
              </a:ext>
            </a:extLst>
          </p:cNvPr>
          <p:cNvSpPr txBox="1"/>
          <p:nvPr/>
        </p:nvSpPr>
        <p:spPr>
          <a:xfrm>
            <a:off x="8356600" y="1447800"/>
            <a:ext cx="309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장기 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(4</a:t>
            </a:r>
            <a:r>
              <a:rPr lang="ko-KR" altLang="en-US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년</a:t>
            </a:r>
            <a:r>
              <a:rPr lang="en-US" altLang="ko-KR" sz="1300" b="1">
                <a:solidFill>
                  <a:srgbClr val="CDE5E4"/>
                </a:solidFill>
                <a:latin typeface="Malgun Gothic" panose="020B0503020000020004" pitchFamily="50" charset="-127"/>
              </a:rPr>
              <a:t>~)</a:t>
            </a:r>
            <a:endParaRPr lang="ko-KR" altLang="en-US" sz="1300" b="1">
              <a:solidFill>
                <a:srgbClr val="CDE5E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AB445E-8552-4A48-B3B3-7D5A9D2CA3B3}"/>
              </a:ext>
            </a:extLst>
          </p:cNvPr>
          <p:cNvSpPr txBox="1"/>
          <p:nvPr/>
        </p:nvSpPr>
        <p:spPr>
          <a:xfrm>
            <a:off x="8356600" y="1727200"/>
            <a:ext cx="309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공공 매입</a:t>
            </a:r>
            <a:r>
              <a:rPr lang="en-US" altLang="ko-KR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FFFFFF"/>
                </a:solidFill>
                <a:latin typeface="Malgun Gothic" panose="020B0503020000020004" pitchFamily="50" charset="-127"/>
              </a:rPr>
              <a:t>용도전환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8A435A-BC71-4C20-8F28-E2F96392F1CC}"/>
              </a:ext>
            </a:extLst>
          </p:cNvPr>
          <p:cNvSpPr/>
          <p:nvPr/>
        </p:nvSpPr>
        <p:spPr>
          <a:xfrm>
            <a:off x="8128000" y="23495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6C7C76-7E22-4902-93F2-8AE1F926FC1B}"/>
              </a:ext>
            </a:extLst>
          </p:cNvPr>
          <p:cNvSpPr txBox="1"/>
          <p:nvPr/>
        </p:nvSpPr>
        <p:spPr>
          <a:xfrm>
            <a:off x="8356600" y="2540000"/>
            <a:ext cx="3098800" cy="260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상가 공공 매입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저가 임대 기구 설치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일부 상가를 주거</a:t>
            </a:r>
            <a:r>
              <a:rPr lang="en-US" altLang="ko-KR" sz="16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생활시설로 전환</a:t>
            </a:r>
          </a:p>
          <a:p>
            <a:pPr marL="152400" indent="-152400">
              <a:spcAft>
                <a:spcPts val="1400"/>
              </a:spcAft>
              <a:buFont typeface="+mj-lt"/>
              <a:buChar char="•"/>
            </a:pPr>
            <a:r>
              <a:rPr lang="ko-KR" altLang="en-US" sz="1600">
                <a:solidFill>
                  <a:srgbClr val="1B2B34"/>
                </a:solidFill>
                <a:latin typeface="Malgun Gothic" panose="020B0503020000020004" pitchFamily="50" charset="-127"/>
              </a:rPr>
              <a:t>상권별 보호 상업가로 검토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E3C26C-345B-4AFB-8CB7-989CA04BB951}"/>
              </a:ext>
            </a:extLst>
          </p:cNvPr>
          <p:cNvSpPr/>
          <p:nvPr/>
        </p:nvSpPr>
        <p:spPr>
          <a:xfrm>
            <a:off x="508000" y="5461000"/>
            <a:ext cx="11176000" cy="7874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5FA67-4A13-4960-9162-24C0EBEAABD8}"/>
              </a:ext>
            </a:extLst>
          </p:cNvPr>
          <p:cNvSpPr txBox="1"/>
          <p:nvPr/>
        </p:nvSpPr>
        <p:spPr>
          <a:xfrm>
            <a:off x="787400" y="5562600"/>
            <a:ext cx="10617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핵심 원칙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운영비 보조에만 의존하지 않고 임대수익으로 선순환하는 「공익목적형 임대시설」 구조를 만든다 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서울연구원 제안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9CC1AA-8264-4E90-B12C-2A7AA9A3B71F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※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본 단계안은 자료 분석을 바탕으로 한 제안이며 확정된 계획이 아님</a:t>
            </a:r>
          </a:p>
        </p:txBody>
      </p:sp>
    </p:spTree>
    <p:extLst>
      <p:ext uri="{BB962C8B-B14F-4D97-AF65-F5344CB8AC3E}">
        <p14:creationId xmlns:p14="http://schemas.microsoft.com/office/powerpoint/2010/main" val="212317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27920-AF50-4066-A550-16AD963BB596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지금 대구에서 공실 활용은 어떻게 운영되고 있는가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B1946-98F4-44BA-B77F-B2ED6860F4EF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대구는 상권활성화 사업 중심으로 공실 활용을 시도하고 있다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CE124AF6-1538-4993-B472-8BE00327C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454662"/>
              </p:ext>
            </p:extLst>
          </p:nvPr>
        </p:nvGraphicFramePr>
        <p:xfrm>
          <a:off x="508000" y="1270000"/>
          <a:ext cx="5588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66CB67E-B834-43DA-8862-D03423F2C70A}"/>
              </a:ext>
            </a:extLst>
          </p:cNvPr>
          <p:cNvSpPr/>
          <p:nvPr/>
        </p:nvSpPr>
        <p:spPr>
          <a:xfrm>
            <a:off x="508000" y="4254500"/>
            <a:ext cx="2730500" cy="1651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4856B-D4FF-42A9-8D44-DE949813C971}"/>
              </a:ext>
            </a:extLst>
          </p:cNvPr>
          <p:cNvSpPr txBox="1"/>
          <p:nvPr/>
        </p:nvSpPr>
        <p:spPr>
          <a:xfrm>
            <a:off x="711200" y="4406900"/>
            <a:ext cx="2324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0E7C7B"/>
                </a:solidFill>
                <a:latin typeface="Malgun Gothic" panose="020B0503020000020004" pitchFamily="50" charset="-127"/>
              </a:rPr>
              <a:t>60</a:t>
            </a:r>
            <a:r>
              <a:rPr lang="ko-KR" altLang="en-US" sz="3800" b="1">
                <a:solidFill>
                  <a:srgbClr val="0E7C7B"/>
                </a:solidFill>
                <a:latin typeface="Malgun Gothic" panose="020B0503020000020004" pitchFamily="50" charset="-127"/>
              </a:rPr>
              <a:t>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BA936-8477-4FE3-A32A-240DDC534BAC}"/>
              </a:ext>
            </a:extLst>
          </p:cNvPr>
          <p:cNvSpPr txBox="1"/>
          <p:nvPr/>
        </p:nvSpPr>
        <p:spPr>
          <a:xfrm>
            <a:off x="711200" y="5118100"/>
            <a:ext cx="2324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동성로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: 5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개년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점포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706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곳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DB3A28E-6AA3-4295-8D37-0C4DA620D841}"/>
              </a:ext>
            </a:extLst>
          </p:cNvPr>
          <p:cNvSpPr/>
          <p:nvPr/>
        </p:nvSpPr>
        <p:spPr>
          <a:xfrm>
            <a:off x="3365500" y="4254500"/>
            <a:ext cx="2730500" cy="16510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8FC6A-7B3B-4BDE-877F-E2F88C9F4BED}"/>
              </a:ext>
            </a:extLst>
          </p:cNvPr>
          <p:cNvSpPr txBox="1"/>
          <p:nvPr/>
        </p:nvSpPr>
        <p:spPr>
          <a:xfrm>
            <a:off x="3568700" y="4406900"/>
            <a:ext cx="2324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0E7C7B"/>
                </a:solidFill>
                <a:latin typeface="Malgun Gothic" panose="020B0503020000020004" pitchFamily="50" charset="-127"/>
              </a:rPr>
              <a:t>80</a:t>
            </a:r>
            <a:r>
              <a:rPr lang="ko-KR" altLang="en-US" sz="3800" b="1">
                <a:solidFill>
                  <a:srgbClr val="0E7C7B"/>
                </a:solidFill>
                <a:latin typeface="Malgun Gothic" panose="020B0503020000020004" pitchFamily="50" charset="-127"/>
              </a:rPr>
              <a:t>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580EC-6A3E-4F54-A237-078500401A5D}"/>
              </a:ext>
            </a:extLst>
          </p:cNvPr>
          <p:cNvSpPr txBox="1"/>
          <p:nvPr/>
        </p:nvSpPr>
        <p:spPr>
          <a:xfrm>
            <a:off x="3568700" y="5118100"/>
            <a:ext cx="2324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두류젊코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: 5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개년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점포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735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곳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0E5BA87-952C-434C-9706-FE11EC1CB9D7}"/>
              </a:ext>
            </a:extLst>
          </p:cNvPr>
          <p:cNvSpPr/>
          <p:nvPr/>
        </p:nvSpPr>
        <p:spPr>
          <a:xfrm>
            <a:off x="6350000" y="1270000"/>
            <a:ext cx="5334000" cy="48895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C38C1-8FEA-41F5-AC52-49BF181FFCE6}"/>
              </a:ext>
            </a:extLst>
          </p:cNvPr>
          <p:cNvSpPr txBox="1"/>
          <p:nvPr/>
        </p:nvSpPr>
        <p:spPr>
          <a:xfrm>
            <a:off x="6629400" y="1447800"/>
            <a:ext cx="482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0E7C7B"/>
                </a:solidFill>
                <a:latin typeface="Malgun Gothic" panose="020B0503020000020004" pitchFamily="50" charset="-127"/>
              </a:rPr>
              <a:t>공실 관련 운영 사업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4D78D-974E-49C5-B5FC-146EFC95216B}"/>
              </a:ext>
            </a:extLst>
          </p:cNvPr>
          <p:cNvSpPr txBox="1"/>
          <p:nvPr/>
        </p:nvSpPr>
        <p:spPr>
          <a:xfrm>
            <a:off x="6629400" y="1854200"/>
            <a:ext cx="4851400" cy="419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동성로 빈 점포 임대 팝업스토어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(2025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여름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1~2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개월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동성로 진출 예비 창업자 창업 컨설팅 신설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소상공인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15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 점포 컨설팅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도심 캠퍼스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(2024.3~):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도심 공실을 청년 문화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교육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창업 공간으로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13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개 대학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29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개 프로그램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도시재생 주민 거점시설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86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준공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46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 중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30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곳 사회적경제조직 위탁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조례상 도시재생지원센터가 빈 점포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상가 신탁 업무 수행 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56246-41D9-4C89-9A23-A2D069212D76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매일신문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(2026.4.13),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경북매일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(2025.5.28),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경북연구원 대구 도시재생 거점시설 운영실태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(2022),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대구광역시 도시재생 조례</a:t>
            </a:r>
          </a:p>
        </p:txBody>
      </p:sp>
    </p:spTree>
    <p:extLst>
      <p:ext uri="{BB962C8B-B14F-4D97-AF65-F5344CB8AC3E}">
        <p14:creationId xmlns:p14="http://schemas.microsoft.com/office/powerpoint/2010/main" val="3719536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FEE77-44E0-4212-B874-75BFF12062E6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지금 대구에서 공실 활용은 어떻게 운영되고 있는가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E70B-F6C3-40CC-98AD-18DE758C9ED2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중심가는 채워지지만 골목은 비어 있고</a:t>
            </a:r>
            <a:r>
              <a:rPr lang="en-US" altLang="ko-KR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운영 구조는 취약하다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D3E3903-804A-433D-8915-F8F47333B08D}"/>
              </a:ext>
            </a:extLst>
          </p:cNvPr>
          <p:cNvSpPr/>
          <p:nvPr/>
        </p:nvSpPr>
        <p:spPr>
          <a:xfrm>
            <a:off x="508000" y="1333500"/>
            <a:ext cx="5461000" cy="29845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FC366-45E2-41AA-9C13-D4DF928AC0B9}"/>
              </a:ext>
            </a:extLst>
          </p:cNvPr>
          <p:cNvSpPr txBox="1"/>
          <p:nvPr/>
        </p:nvSpPr>
        <p:spPr>
          <a:xfrm>
            <a:off x="787400" y="1498600"/>
            <a:ext cx="495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E7C7B"/>
                </a:solidFill>
                <a:latin typeface="Malgun Gothic" panose="020B0503020000020004" pitchFamily="50" charset="-127"/>
              </a:rPr>
              <a:t>현재 모습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1DEE6-C868-4788-91A7-50E1BD5822F2}"/>
              </a:ext>
            </a:extLst>
          </p:cNvPr>
          <p:cNvSpPr txBox="1"/>
          <p:nvPr/>
        </p:nvSpPr>
        <p:spPr>
          <a:xfrm>
            <a:off x="787400" y="1930400"/>
            <a:ext cx="4953000" cy="273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중심가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뽑기방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게임장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무인매장이 공실을 채움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골목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의류점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음식점 폐업 후 「임대」 안내문만 남음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교동처럼 젊은 층이 유입된 곳은 창업 문의가 꾸준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대구 신규 일반사업자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20,708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명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(2025), 2013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년 이후 최저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A465E2-2504-4A4D-BEE2-FD942E8D4094}"/>
              </a:ext>
            </a:extLst>
          </p:cNvPr>
          <p:cNvSpPr/>
          <p:nvPr/>
        </p:nvSpPr>
        <p:spPr>
          <a:xfrm>
            <a:off x="6223000" y="1333500"/>
            <a:ext cx="5461000" cy="2984500"/>
          </a:xfrm>
          <a:prstGeom prst="roundRect">
            <a:avLst>
              <a:gd name="adj" fmla="val 6000"/>
            </a:avLst>
          </a:prstGeom>
          <a:solidFill>
            <a:srgbClr val="EE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F1111-0980-43D5-8D75-6C9B04A3C398}"/>
              </a:ext>
            </a:extLst>
          </p:cNvPr>
          <p:cNvSpPr txBox="1"/>
          <p:nvPr/>
        </p:nvSpPr>
        <p:spPr>
          <a:xfrm>
            <a:off x="6502400" y="1498600"/>
            <a:ext cx="4953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E4572E"/>
                </a:solidFill>
                <a:latin typeface="Malgun Gothic" panose="020B0503020000020004" pitchFamily="50" charset="-127"/>
              </a:rPr>
              <a:t>운영상의 한계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34BF9-C902-4B57-BC80-E547C3047432}"/>
              </a:ext>
            </a:extLst>
          </p:cNvPr>
          <p:cNvSpPr txBox="1"/>
          <p:nvPr/>
        </p:nvSpPr>
        <p:spPr>
          <a:xfrm>
            <a:off x="6502400" y="1930400"/>
            <a:ext cx="4953000" cy="273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공실 점포 수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활용 실적을 알 수 있는 통합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없음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기사에도 점포 수 미공개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)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팝업은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1~2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개월 단기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상시 입주로 이어지는 구조 불분명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도시재생 거점시설은 공공 운영비 보조 의존 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지원이 끝나면 자립 어려움</a:t>
            </a:r>
          </a:p>
          <a:p>
            <a:pPr marL="152400" indent="-152400">
              <a:spcAft>
                <a:spcPts val="800"/>
              </a:spcAft>
              <a:buFont typeface="+mj-lt"/>
              <a:buChar char="•"/>
            </a:pP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사업 기간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(5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년</a:t>
            </a:r>
            <a:r>
              <a:rPr lang="en-US" altLang="ko-KR" sz="1400">
                <a:solidFill>
                  <a:srgbClr val="1B2B34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B2B34"/>
                </a:solidFill>
                <a:latin typeface="Malgun Gothic" panose="020B0503020000020004" pitchFamily="50" charset="-127"/>
              </a:rPr>
              <a:t>종료 후 지속 방안 필요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B05414-9ECC-491F-87D1-B4621F946ECB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4" b="7984"/>
          <a:stretch/>
        </p:blipFill>
        <p:spPr>
          <a:xfrm>
            <a:off x="508000" y="4572000"/>
            <a:ext cx="2540000" cy="1422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C4ADEB-9A6D-47F7-B89B-4FBD9DCA829F}"/>
              </a:ext>
            </a:extLst>
          </p:cNvPr>
          <p:cNvSpPr txBox="1"/>
          <p:nvPr/>
        </p:nvSpPr>
        <p:spPr>
          <a:xfrm>
            <a:off x="508000" y="6045200"/>
            <a:ext cx="254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약령시 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(Mobius6, CC BY-SA 4.0)</a:t>
            </a:r>
            <a:endParaRPr lang="ko-KR" altLang="en-US" sz="1000">
              <a:solidFill>
                <a:srgbClr val="5F6B7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4FC8C87-EDAD-4F84-9E1B-BFD31BE65FB8}"/>
              </a:ext>
            </a:extLst>
          </p:cNvPr>
          <p:cNvSpPr/>
          <p:nvPr/>
        </p:nvSpPr>
        <p:spPr>
          <a:xfrm>
            <a:off x="3302000" y="4572000"/>
            <a:ext cx="8382000" cy="1422400"/>
          </a:xfrm>
          <a:prstGeom prst="roundRect">
            <a:avLst>
              <a:gd name="adj" fmla="val 6000"/>
            </a:avLst>
          </a:prstGeom>
          <a:solidFill>
            <a:srgbClr val="1B2B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B15C0-5ED1-4E9F-9081-8851F539BD82}"/>
              </a:ext>
            </a:extLst>
          </p:cNvPr>
          <p:cNvSpPr txBox="1"/>
          <p:nvPr/>
        </p:nvSpPr>
        <p:spPr>
          <a:xfrm>
            <a:off x="3606800" y="4673600"/>
            <a:ext cx="7772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시사점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팝업 중심의 일회성 사업에서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공실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DB -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창업 연계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자립 운영으로 이어지는 상시 체계로의 전환이 필요하다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7E83AD-5860-4621-92B6-EEC2008D06C6}"/>
              </a:ext>
            </a:extLst>
          </p:cNvPr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출처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경북매일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(2026.7.29),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매일신문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(2026.7.13),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경북연구원</a:t>
            </a:r>
            <a:r>
              <a:rPr lang="en-US" altLang="ko-KR" sz="1000">
                <a:solidFill>
                  <a:srgbClr val="5F6B73"/>
                </a:solidFill>
                <a:latin typeface="Malgun Gothic" panose="020B0503020000020004" pitchFamily="50" charset="-127"/>
              </a:rPr>
              <a:t>(2022), </a:t>
            </a:r>
            <a:r>
              <a:rPr lang="ko-KR" altLang="en-US" sz="1000">
                <a:solidFill>
                  <a:srgbClr val="5F6B73"/>
                </a:solidFill>
                <a:latin typeface="Malgun Gothic" panose="020B0503020000020004" pitchFamily="50" charset="-127"/>
              </a:rPr>
              <a:t>필자 정리</a:t>
            </a:r>
          </a:p>
        </p:txBody>
      </p:sp>
    </p:spTree>
    <p:extLst>
      <p:ext uri="{BB962C8B-B14F-4D97-AF65-F5344CB8AC3E}">
        <p14:creationId xmlns:p14="http://schemas.microsoft.com/office/powerpoint/2010/main" val="228597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E1F728-88D9-47BC-B5C6-4E0FDB90307F}"/>
              </a:ext>
            </a:extLst>
          </p:cNvPr>
          <p:cNvSpPr txBox="1"/>
          <p:nvPr/>
        </p:nvSpPr>
        <p:spPr>
          <a:xfrm>
            <a:off x="609600" y="508000"/>
            <a:ext cx="508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F2A541"/>
                </a:solidFill>
                <a:latin typeface="Malgun Gothic" panose="020B0503020000020004" pitchFamily="50" charset="-127"/>
              </a:rPr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135F0-4BF6-4563-ACBD-C365F0EFEFE1}"/>
              </a:ext>
            </a:extLst>
          </p:cNvPr>
          <p:cNvSpPr txBox="1"/>
          <p:nvPr/>
        </p:nvSpPr>
        <p:spPr>
          <a:xfrm>
            <a:off x="609600" y="863600"/>
            <a:ext cx="10922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000" b="1">
                <a:solidFill>
                  <a:srgbClr val="FFFFFF"/>
                </a:solidFill>
                <a:latin typeface="Malgun Gothic" panose="020B0503020000020004" pitchFamily="50" charset="-127"/>
              </a:rPr>
              <a:t>공실은 데이터로 드러났고</a:t>
            </a:r>
            <a:r>
              <a:rPr lang="en-US" altLang="ko-KR" sz="30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FFFFFF"/>
                </a:solidFill>
                <a:latin typeface="Malgun Gothic" panose="020B0503020000020004" pitchFamily="50" charset="-127"/>
              </a:rPr>
              <a:t>해법은 이미 검증되어 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0A4F29F-6063-41BE-A524-FB2191DB5685}"/>
              </a:ext>
            </a:extLst>
          </p:cNvPr>
          <p:cNvSpPr/>
          <p:nvPr/>
        </p:nvSpPr>
        <p:spPr>
          <a:xfrm>
            <a:off x="609600" y="2413000"/>
            <a:ext cx="2603500" cy="3175000"/>
          </a:xfrm>
          <a:prstGeom prst="roundRect">
            <a:avLst>
              <a:gd name="adj" fmla="val 6000"/>
            </a:avLst>
          </a:prstGeom>
          <a:solidFill>
            <a:srgbClr val="2740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1D47C-07D1-484F-B653-C80074649626}"/>
              </a:ext>
            </a:extLst>
          </p:cNvPr>
          <p:cNvSpPr txBox="1"/>
          <p:nvPr/>
        </p:nvSpPr>
        <p:spPr>
          <a:xfrm>
            <a:off x="838200" y="2616200"/>
            <a:ext cx="50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400" b="1">
                <a:solidFill>
                  <a:srgbClr val="F2A541"/>
                </a:solidFill>
                <a:latin typeface="Malgun Gothic" panose="020B0503020000020004" pitchFamily="50" charset="-127"/>
              </a:rPr>
              <a:t>1</a:t>
            </a:r>
            <a:endParaRPr lang="ko-KR" altLang="en-US" sz="3400" b="1">
              <a:solidFill>
                <a:srgbClr val="F2A54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2F9E0-D560-421E-978C-A4E837A5B060}"/>
              </a:ext>
            </a:extLst>
          </p:cNvPr>
          <p:cNvSpPr txBox="1"/>
          <p:nvPr/>
        </p:nvSpPr>
        <p:spPr>
          <a:xfrm>
            <a:off x="838200" y="3200400"/>
            <a:ext cx="215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진단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47314-0AF7-4E5D-AF04-2C80E3E4C166}"/>
              </a:ext>
            </a:extLst>
          </p:cNvPr>
          <p:cNvSpPr txBox="1"/>
          <p:nvPr/>
        </p:nvSpPr>
        <p:spPr>
          <a:xfrm>
            <a:off x="838200" y="3708400"/>
            <a:ext cx="21844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대구 중대형 공실률 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18.9%, 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소규모 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10.8%.</a:t>
            </a:r>
          </a:p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전국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서울을 모두 웃돌고 계속 상승 중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933C1DA-F50A-4552-AD43-35BCBDB9E757}"/>
              </a:ext>
            </a:extLst>
          </p:cNvPr>
          <p:cNvSpPr/>
          <p:nvPr/>
        </p:nvSpPr>
        <p:spPr>
          <a:xfrm>
            <a:off x="3403600" y="2413000"/>
            <a:ext cx="2603500" cy="3175000"/>
          </a:xfrm>
          <a:prstGeom prst="roundRect">
            <a:avLst>
              <a:gd name="adj" fmla="val 6000"/>
            </a:avLst>
          </a:prstGeom>
          <a:solidFill>
            <a:srgbClr val="2740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624DB-A2CB-48D8-A540-1597EF24C25B}"/>
              </a:ext>
            </a:extLst>
          </p:cNvPr>
          <p:cNvSpPr txBox="1"/>
          <p:nvPr/>
        </p:nvSpPr>
        <p:spPr>
          <a:xfrm>
            <a:off x="3632200" y="2616200"/>
            <a:ext cx="50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400" b="1">
                <a:solidFill>
                  <a:srgbClr val="F2A541"/>
                </a:solidFill>
                <a:latin typeface="Malgun Gothic" panose="020B0503020000020004" pitchFamily="50" charset="-127"/>
              </a:rPr>
              <a:t>2</a:t>
            </a:r>
            <a:endParaRPr lang="ko-KR" altLang="en-US" sz="3400" b="1">
              <a:solidFill>
                <a:srgbClr val="F2A54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1E356-38EA-44C1-9D75-7FD6B97625F3}"/>
              </a:ext>
            </a:extLst>
          </p:cNvPr>
          <p:cNvSpPr txBox="1"/>
          <p:nvPr/>
        </p:nvSpPr>
        <p:spPr>
          <a:xfrm>
            <a:off x="3632200" y="3200400"/>
            <a:ext cx="215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위험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CB8A8-BE21-4FCC-9620-111C36E16792}"/>
              </a:ext>
            </a:extLst>
          </p:cNvPr>
          <p:cNvSpPr txBox="1"/>
          <p:nvPr/>
        </p:nvSpPr>
        <p:spPr>
          <a:xfrm>
            <a:off x="3632200" y="3708400"/>
            <a:ext cx="21844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개업은 줄고 폐업은 유지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(91%).</a:t>
            </a:r>
          </a:p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방치하면 골목 상권부터 무너지는 악순환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4B9FE1-15A1-4525-B677-09745169E335}"/>
              </a:ext>
            </a:extLst>
          </p:cNvPr>
          <p:cNvSpPr/>
          <p:nvPr/>
        </p:nvSpPr>
        <p:spPr>
          <a:xfrm>
            <a:off x="6197600" y="2413000"/>
            <a:ext cx="2603500" cy="3175000"/>
          </a:xfrm>
          <a:prstGeom prst="roundRect">
            <a:avLst>
              <a:gd name="adj" fmla="val 6000"/>
            </a:avLst>
          </a:prstGeom>
          <a:solidFill>
            <a:srgbClr val="2740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C4D62-53EB-43F7-BFA7-07479C432CBD}"/>
              </a:ext>
            </a:extLst>
          </p:cNvPr>
          <p:cNvSpPr txBox="1"/>
          <p:nvPr/>
        </p:nvSpPr>
        <p:spPr>
          <a:xfrm>
            <a:off x="6426200" y="2616200"/>
            <a:ext cx="50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400" b="1">
                <a:solidFill>
                  <a:srgbClr val="F2A541"/>
                </a:solidFill>
                <a:latin typeface="Malgun Gothic" panose="020B0503020000020004" pitchFamily="50" charset="-127"/>
              </a:rPr>
              <a:t>3</a:t>
            </a:r>
            <a:endParaRPr lang="ko-KR" altLang="en-US" sz="3400" b="1">
              <a:solidFill>
                <a:srgbClr val="F2A54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B9FF06-C410-4CF9-A285-0B8731FDEDB2}"/>
              </a:ext>
            </a:extLst>
          </p:cNvPr>
          <p:cNvSpPr txBox="1"/>
          <p:nvPr/>
        </p:nvSpPr>
        <p:spPr>
          <a:xfrm>
            <a:off x="6426200" y="3200400"/>
            <a:ext cx="215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해법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5ECC5-CCCC-486C-B58E-FAB0DB05A04F}"/>
              </a:ext>
            </a:extLst>
          </p:cNvPr>
          <p:cNvSpPr txBox="1"/>
          <p:nvPr/>
        </p:nvSpPr>
        <p:spPr>
          <a:xfrm>
            <a:off x="6426200" y="3708400"/>
            <a:ext cx="21844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파리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로테르담의 공공 매입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바버턴의 팝업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,</a:t>
            </a:r>
          </a:p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아이치의 챌린지숍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미야마초의 주민 출자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F7925C-C179-485E-9DD8-9A75E4A7E0CF}"/>
              </a:ext>
            </a:extLst>
          </p:cNvPr>
          <p:cNvSpPr/>
          <p:nvPr/>
        </p:nvSpPr>
        <p:spPr>
          <a:xfrm>
            <a:off x="8991600" y="2413000"/>
            <a:ext cx="2603500" cy="3175000"/>
          </a:xfrm>
          <a:prstGeom prst="roundRect">
            <a:avLst>
              <a:gd name="adj" fmla="val 6000"/>
            </a:avLst>
          </a:prstGeom>
          <a:solidFill>
            <a:srgbClr val="2740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53684-EA78-4868-9C1D-516A3F28D520}"/>
              </a:ext>
            </a:extLst>
          </p:cNvPr>
          <p:cNvSpPr txBox="1"/>
          <p:nvPr/>
        </p:nvSpPr>
        <p:spPr>
          <a:xfrm>
            <a:off x="9220200" y="2616200"/>
            <a:ext cx="50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400" b="1">
                <a:solidFill>
                  <a:srgbClr val="F2A541"/>
                </a:solidFill>
                <a:latin typeface="Malgun Gothic" panose="020B0503020000020004" pitchFamily="50" charset="-127"/>
              </a:rPr>
              <a:t>4</a:t>
            </a:r>
            <a:endParaRPr lang="ko-KR" altLang="en-US" sz="3400" b="1">
              <a:solidFill>
                <a:srgbClr val="F2A54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8604B4-963C-492A-B17F-93C3477E7644}"/>
              </a:ext>
            </a:extLst>
          </p:cNvPr>
          <p:cNvSpPr txBox="1"/>
          <p:nvPr/>
        </p:nvSpPr>
        <p:spPr>
          <a:xfrm>
            <a:off x="9220200" y="3200400"/>
            <a:ext cx="215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실행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83606-2AC5-4878-83F7-B42C9D5516F1}"/>
              </a:ext>
            </a:extLst>
          </p:cNvPr>
          <p:cNvSpPr txBox="1"/>
          <p:nvPr/>
        </p:nvSpPr>
        <p:spPr>
          <a:xfrm>
            <a:off x="9220200" y="3708400"/>
            <a:ext cx="21844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조례 근거는 이미 있음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.</a:t>
            </a:r>
          </a:p>
          <a:p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공실 </a:t>
            </a:r>
            <a:r>
              <a:rPr lang="en-US" altLang="ko-KR" sz="1400">
                <a:solidFill>
                  <a:srgbClr val="D5E2E2"/>
                </a:solidFill>
                <a:latin typeface="Malgun Gothic" panose="020B0503020000020004" pitchFamily="50" charset="-127"/>
              </a:rPr>
              <a:t>DB</a:t>
            </a:r>
            <a:r>
              <a:rPr lang="ko-KR" altLang="en-US" sz="1400">
                <a:solidFill>
                  <a:srgbClr val="D5E2E2"/>
                </a:solidFill>
                <a:latin typeface="Malgun Gothic" panose="020B0503020000020004" pitchFamily="50" charset="-127"/>
              </a:rPr>
              <a:t>와 상시 운영 체계로 연결해야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B69583-9C72-4ABA-8914-64A0DAD82F56}"/>
              </a:ext>
            </a:extLst>
          </p:cNvPr>
          <p:cNvSpPr txBox="1"/>
          <p:nvPr/>
        </p:nvSpPr>
        <p:spPr>
          <a:xfrm>
            <a:off x="609600" y="60960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※ 2024Q3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통계 개편 구간</a:t>
            </a:r>
            <a:r>
              <a:rPr lang="en-US" altLang="ko-KR" sz="1100">
                <a:solidFill>
                  <a:srgbClr val="9FB3B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FB3B3"/>
                </a:solidFill>
                <a:latin typeface="Malgun Gothic" panose="020B0503020000020004" pitchFamily="50" charset="-127"/>
              </a:rPr>
              <a:t>상권 구분 변경 등 데이터 한계는 각 슬라이드 주석 참고</a:t>
            </a:r>
          </a:p>
        </p:txBody>
      </p:sp>
    </p:spTree>
    <p:extLst>
      <p:ext uri="{BB962C8B-B14F-4D97-AF65-F5344CB8AC3E}">
        <p14:creationId xmlns:p14="http://schemas.microsoft.com/office/powerpoint/2010/main" val="1967671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BDAC4-A3FE-4402-9477-0454E6D96711}"/>
              </a:ext>
            </a:extLst>
          </p:cNvPr>
          <p:cNvSpPr txBox="1"/>
          <p:nvPr/>
        </p:nvSpPr>
        <p:spPr>
          <a:xfrm>
            <a:off x="508000" y="279400"/>
            <a:ext cx="1117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0E7C7B"/>
                </a:solidFill>
                <a:latin typeface="Malgun Gothic" panose="020B0503020000020004" pitchFamily="50" charset="-127"/>
              </a:rPr>
              <a:t>부록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C1E29-5651-4F0E-A2CE-AC4FFB62C87F}"/>
              </a:ext>
            </a:extLst>
          </p:cNvPr>
          <p:cNvSpPr txBox="1"/>
          <p:nvPr/>
        </p:nvSpPr>
        <p:spPr>
          <a:xfrm>
            <a:off x="508000" y="533400"/>
            <a:ext cx="11176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1B2B34"/>
                </a:solidFill>
                <a:latin typeface="Malgun Gothic" panose="020B0503020000020004" pitchFamily="50" charset="-127"/>
              </a:rPr>
              <a:t>데이터 출처 및 사진 크레딧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DD6F4-D7EA-4D43-9900-49E796FAE7D8}"/>
              </a:ext>
            </a:extLst>
          </p:cNvPr>
          <p:cNvSpPr txBox="1"/>
          <p:nvPr/>
        </p:nvSpPr>
        <p:spPr>
          <a:xfrm>
            <a:off x="508000" y="1270000"/>
            <a:ext cx="11176000" cy="215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데이터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한국부동산원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R-ONE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상업용부동산 임대동향조사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(2019Q1~2026Q2)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통계청 기업생멸행정통계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전국사업체조사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국세청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TASIS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개업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폐업 현황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(2019~2025)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한국은행 대구경북본부 지역경제동향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국가법령정보센터 자치법규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(2026.10.29)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서울연구원 세계도시동향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연구보고서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경북연구원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(GDI)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연구보고서</a:t>
            </a:r>
          </a:p>
          <a:p>
            <a:pPr marL="152400" indent="-152400">
              <a:spcAft>
                <a:spcPts val="600"/>
              </a:spcAft>
              <a:buFont typeface="+mj-lt"/>
              <a:buChar char="•"/>
            </a:pP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기사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매일신문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2026.4.13·7.13, </a:t>
            </a:r>
            <a:r>
              <a:rPr lang="ko-KR" altLang="en-US" sz="1300">
                <a:solidFill>
                  <a:srgbClr val="1B2B34"/>
                </a:solidFill>
                <a:latin typeface="Malgun Gothic" panose="020B0503020000020004" pitchFamily="50" charset="-127"/>
              </a:rPr>
              <a:t>경북매일 </a:t>
            </a:r>
            <a:r>
              <a:rPr lang="en-US" altLang="ko-KR" sz="1300">
                <a:solidFill>
                  <a:srgbClr val="1B2B34"/>
                </a:solidFill>
                <a:latin typeface="Malgun Gothic" panose="020B0503020000020004" pitchFamily="50" charset="-127"/>
              </a:rPr>
              <a:t>2025.5.28·2026.7.29</a:t>
            </a:r>
            <a:endParaRPr lang="ko-KR" altLang="en-US" sz="1300">
              <a:solidFill>
                <a:srgbClr val="1B2B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665B7-7DED-4728-8A5B-36FFDAF0025A}"/>
              </a:ext>
            </a:extLst>
          </p:cNvPr>
          <p:cNvSpPr txBox="1"/>
          <p:nvPr/>
        </p:nvSpPr>
        <p:spPr>
          <a:xfrm>
            <a:off x="508000" y="3619500"/>
            <a:ext cx="1117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사진 </a:t>
            </a:r>
            <a:r>
              <a:rPr lang="en-US" altLang="ko-KR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모두 </a:t>
            </a:r>
            <a:r>
              <a:rPr lang="en-US" altLang="ko-KR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Wikimedia Commons, </a:t>
            </a:r>
            <a:r>
              <a:rPr lang="ko-KR" altLang="en-US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자유 이용 라이선스</a:t>
            </a:r>
            <a:r>
              <a:rPr lang="en-US" altLang="ko-KR" sz="1500" b="1">
                <a:solidFill>
                  <a:srgbClr val="0E7C7B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 b="1">
              <a:solidFill>
                <a:srgbClr val="0E7C7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0C231-1EF5-4151-96E1-CC20A7BA6700}"/>
              </a:ext>
            </a:extLst>
          </p:cNvPr>
          <p:cNvSpPr txBox="1"/>
          <p:nvPr/>
        </p:nvSpPr>
        <p:spPr>
          <a:xfrm>
            <a:off x="508000" y="3987800"/>
            <a:ext cx="111760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동성로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(Dongseongro Rodeo Street): Choi2451, CC BY-SA 4.0</a:t>
            </a:r>
          </a:p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서문시장 야시장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(Seomun Night Market, Daegu): Choi2451, CC BY-SA 3.0</a:t>
            </a:r>
          </a:p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약령시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(Yangnyeongsi 20221126 001): Mobius6, CC BY-SA 4.0</a:t>
            </a:r>
          </a:p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성수동 카페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(Cafe storefront in Seongsu-dong): CartoonChess, CC BY-SA 4.0</a:t>
            </a:r>
          </a:p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런던 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Boxpark(BOXPARK Shoreditch 1): Fred Romero, CC BY 2.0 / 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팜스프링스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(Palm Canyon Drive): Visitor7, CC BY-SA 3.0</a:t>
            </a:r>
          </a:p>
          <a:p>
            <a:pPr>
              <a:spcAft>
                <a:spcPts val="300"/>
              </a:spcAft>
            </a:pP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파리 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rue des Martyrs(22 rue des Martyrs): CC BY-SA 4.0 / 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로테르담 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1e Pijnackerstraat(2024): CC BY-SA 2.0</a:t>
            </a:r>
          </a:p>
          <a:p>
            <a:pPr>
              <a:spcAft>
                <a:spcPts val="300"/>
              </a:spcAft>
            </a:pP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※ 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파리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로테르담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팜스프링스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성수동</a:t>
            </a:r>
            <a:r>
              <a:rPr lang="en-US" altLang="ko-KR" sz="1200">
                <a:solidFill>
                  <a:srgbClr val="5F6B7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F6B73"/>
                </a:solidFill>
                <a:latin typeface="Malgun Gothic" panose="020B0503020000020004" pitchFamily="50" charset="-127"/>
              </a:rPr>
              <a:t>런던 사진은 해당 사업의 실제 현장이 아닌 지역 분위기를 보여주는 참고 이미지</a:t>
            </a:r>
          </a:p>
        </p:txBody>
      </p:sp>
    </p:spTree>
    <p:extLst>
      <p:ext uri="{BB962C8B-B14F-4D97-AF65-F5344CB8AC3E}">
        <p14:creationId xmlns:p14="http://schemas.microsoft.com/office/powerpoint/2010/main" val="93921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2367</Words>
  <Application>Microsoft Office PowerPoint</Application>
  <PresentationFormat>사용자 지정</PresentationFormat>
  <Paragraphs>265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Green</dc:creator>
  <cp:lastModifiedBy>Green</cp:lastModifiedBy>
  <cp:revision>1</cp:revision>
  <dcterms:created xsi:type="dcterms:W3CDTF">2026-10-29T08:43:06Z</dcterms:created>
  <dcterms:modified xsi:type="dcterms:W3CDTF">2026-10-29T08:43:07Z</dcterms:modified>
</cp:coreProperties>
</file>